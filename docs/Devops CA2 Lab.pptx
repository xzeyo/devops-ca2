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6" roundtripDataSignature="AMtx7miCb3mAo3BxW3x1uVAkn513hXaIG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" name="Google Shape;2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9" name="Google Shape;4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" name="Google Shape;58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" name="Google Shape;112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3" name="Google Shape;123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5" name="Google Shape;135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7" name="Google Shape;157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9" name="Google Shape;169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1" name="Google Shape;181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3" name="Google Shape;193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5" name="Google Shape;205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6" name="Google Shape;216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5" name="Google Shape;225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5" name="Google Shape;235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1" name="Google Shape;261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 txBox="1"/>
          <p:nvPr/>
        </p:nvSpPr>
        <p:spPr>
          <a:xfrm>
            <a:off x="822960" y="1737360"/>
            <a:ext cx="1060704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mbria"/>
              <a:buNone/>
            </a:pPr>
            <a:r>
              <a:rPr lang="en-US" sz="52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DevOps CA-II</a:t>
            </a:r>
            <a:endParaRPr sz="5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 txBox="1"/>
          <p:nvPr/>
        </p:nvSpPr>
        <p:spPr>
          <a:xfrm>
            <a:off x="841248" y="2761488"/>
            <a:ext cx="1060704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2300"/>
              <a:buFont typeface="Calibri"/>
              <a:buNone/>
            </a:pPr>
            <a:r>
              <a:rPr lang="en-US" sz="2300" b="0" i="0" u="none" strike="noStrike" cap="none">
                <a:solidFill>
                  <a:srgbClr val="2EC4B6"/>
                </a:solidFill>
                <a:latin typeface="Calibri"/>
                <a:ea typeface="Calibri"/>
                <a:cs typeface="Calibri"/>
                <a:sym typeface="Calibri"/>
              </a:rPr>
              <a:t>Case Study Analysis &amp; Implementation Report</a:t>
            </a:r>
            <a:endParaRPr sz="2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" name="Google Shape;18;p1"/>
          <p:cNvCxnSpPr/>
          <p:nvPr/>
        </p:nvCxnSpPr>
        <p:spPr>
          <a:xfrm>
            <a:off x="868680" y="3474720"/>
            <a:ext cx="2926080" cy="0"/>
          </a:xfrm>
          <a:prstGeom prst="straightConnector1">
            <a:avLst/>
          </a:prstGeom>
          <a:noFill/>
          <a:ln w="25400" cap="flat" cmpd="sng">
            <a:solidFill>
              <a:srgbClr val="2EC4B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" name="Google Shape;19;p1"/>
          <p:cNvSpPr txBox="1"/>
          <p:nvPr/>
        </p:nvSpPr>
        <p:spPr>
          <a:xfrm>
            <a:off x="868680" y="3703320"/>
            <a:ext cx="102412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7D2E0"/>
              </a:buClr>
              <a:buSzPts val="1450"/>
              <a:buFont typeface="Calibri"/>
              <a:buNone/>
            </a:pPr>
            <a:r>
              <a:rPr lang="en-US" sz="1450" b="0" i="0" u="none" strike="noStrike" cap="none">
                <a:solidFill>
                  <a:srgbClr val="C7D2E0"/>
                </a:solidFill>
                <a:latin typeface="Calibri"/>
                <a:ea typeface="Calibri"/>
                <a:cs typeface="Calibri"/>
                <a:sym typeface="Calibri"/>
              </a:rPr>
              <a:t>Amazon case studies  ·  CI/CD pipeline  ·  Ansible IaC  ·  Docker + Kubernetes  ·  Prometheus &amp; Grafana</a:t>
            </a:r>
            <a:endParaRPr sz="14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 txBox="1"/>
          <p:nvPr/>
        </p:nvSpPr>
        <p:spPr>
          <a:xfrm>
            <a:off x="868675" y="5087910"/>
            <a:ext cx="10424100" cy="117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Team Members</a:t>
            </a:r>
            <a:br>
              <a:rPr lang="en-US" sz="13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Rut Vaghani: 2370122186</a:t>
            </a:r>
            <a:endParaRPr sz="1300" b="1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Nihil Pandit: 24070122511</a:t>
            </a:r>
            <a:br>
              <a:rPr lang="en-US" sz="13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Harsh Trivedi: 24070122516</a:t>
            </a:r>
            <a:endParaRPr sz="1300" b="1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"/>
          <p:cNvSpPr txBox="1"/>
          <p:nvPr/>
        </p:nvSpPr>
        <p:spPr>
          <a:xfrm>
            <a:off x="548640" y="365760"/>
            <a:ext cx="110642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1F2937"/>
                </a:solidFill>
                <a:latin typeface="Cambria"/>
                <a:ea typeface="Cambria"/>
                <a:cs typeface="Cambria"/>
                <a:sym typeface="Cambria"/>
              </a:rPr>
              <a:t>Contents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"/>
          <p:cNvSpPr txBox="1"/>
          <p:nvPr/>
        </p:nvSpPr>
        <p:spPr>
          <a:xfrm>
            <a:off x="640080" y="1478466"/>
            <a:ext cx="10058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Part A — Case Study Analysis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685800" y="2064411"/>
            <a:ext cx="548700" cy="457200"/>
          </a:xfrm>
          <a:prstGeom prst="roundRect">
            <a:avLst>
              <a:gd name="adj" fmla="val 12000"/>
            </a:avLst>
          </a:prstGeom>
          <a:solidFill>
            <a:srgbClr val="1C729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2"/>
          <p:cNvSpPr txBox="1"/>
          <p:nvPr/>
        </p:nvSpPr>
        <p:spPr>
          <a:xfrm>
            <a:off x="685800" y="2054221"/>
            <a:ext cx="5487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 txBox="1"/>
          <p:nvPr/>
        </p:nvSpPr>
        <p:spPr>
          <a:xfrm>
            <a:off x="1371600" y="2054221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Q2 · Amazon — two-pizza teams &amp; a deploy every 11.7 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 txBox="1"/>
          <p:nvPr/>
        </p:nvSpPr>
        <p:spPr>
          <a:xfrm>
            <a:off x="640080" y="3099816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600"/>
              <a:buFont typeface="Calibri"/>
              <a:buNone/>
            </a:pPr>
            <a:r>
              <a:rPr lang="en-US" sz="1600" b="1" i="0" u="none" strike="noStrike" cap="non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Part B — Implementation Tasks  (one hello-service, end-to-end)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713232" y="3557016"/>
            <a:ext cx="420624" cy="420624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2"/>
          <p:cNvSpPr txBox="1"/>
          <p:nvPr/>
        </p:nvSpPr>
        <p:spPr>
          <a:xfrm>
            <a:off x="713232" y="3557016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 txBox="1"/>
          <p:nvPr/>
        </p:nvSpPr>
        <p:spPr>
          <a:xfrm>
            <a:off x="1371600" y="3557016"/>
            <a:ext cx="1005840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Task 1 · Deployment Strategy — GitHub Actions pipeline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713232" y="4069080"/>
            <a:ext cx="420624" cy="420624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2"/>
          <p:cNvSpPr txBox="1"/>
          <p:nvPr/>
        </p:nvSpPr>
        <p:spPr>
          <a:xfrm>
            <a:off x="713232" y="4069080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 txBox="1"/>
          <p:nvPr/>
        </p:nvSpPr>
        <p:spPr>
          <a:xfrm>
            <a:off x="1371600" y="4069080"/>
            <a:ext cx="1005840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Task 2 · Configuration Management &amp; IaC — Ansible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713232" y="4581144"/>
            <a:ext cx="420624" cy="420624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2"/>
          <p:cNvSpPr txBox="1"/>
          <p:nvPr/>
        </p:nvSpPr>
        <p:spPr>
          <a:xfrm>
            <a:off x="713232" y="4581144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 txBox="1"/>
          <p:nvPr/>
        </p:nvSpPr>
        <p:spPr>
          <a:xfrm>
            <a:off x="1371600" y="4581144"/>
            <a:ext cx="1005840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Task 3 · Containerization &amp; Orchestration — Docker + k3s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713232" y="5093208"/>
            <a:ext cx="420624" cy="420624"/>
          </a:xfrm>
          <a:prstGeom prst="ellipse">
            <a:avLst/>
          </a:prstGeom>
          <a:solidFill>
            <a:srgbClr val="B4530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2"/>
          <p:cNvSpPr txBox="1"/>
          <p:nvPr/>
        </p:nvSpPr>
        <p:spPr>
          <a:xfrm>
            <a:off x="713232" y="5093208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 txBox="1"/>
          <p:nvPr/>
        </p:nvSpPr>
        <p:spPr>
          <a:xfrm>
            <a:off x="1371600" y="5093208"/>
            <a:ext cx="1005840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Task 4 · Monitoring &amp; Logging — Prometheus + Grafana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713232" y="5605272"/>
            <a:ext cx="420624" cy="420624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2"/>
          <p:cNvSpPr txBox="1"/>
          <p:nvPr/>
        </p:nvSpPr>
        <p:spPr>
          <a:xfrm>
            <a:off x="713232" y="5605272"/>
            <a:ext cx="42062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 txBox="1"/>
          <p:nvPr/>
        </p:nvSpPr>
        <p:spPr>
          <a:xfrm>
            <a:off x="1371600" y="5605272"/>
            <a:ext cx="1005840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Task 5 · Reflection &amp; Report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"/>
          <p:cNvSpPr txBox="1"/>
          <p:nvPr/>
        </p:nvSpPr>
        <p:spPr>
          <a:xfrm>
            <a:off x="822960" y="233172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1800"/>
              <a:buFont typeface="Calibri"/>
              <a:buNone/>
            </a:pPr>
            <a:r>
              <a:rPr lang="en-US" sz="1800" b="1" i="0" u="none" strike="noStrike" cap="none" spc="200">
                <a:solidFill>
                  <a:srgbClr val="2EC4B6"/>
                </a:solidFill>
                <a:latin typeface="Calibri"/>
                <a:ea typeface="Calibri"/>
                <a:cs typeface="Calibri"/>
                <a:sym typeface="Calibri"/>
              </a:rPr>
              <a:t>PART A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 txBox="1"/>
          <p:nvPr/>
        </p:nvSpPr>
        <p:spPr>
          <a:xfrm>
            <a:off x="804672" y="2834640"/>
            <a:ext cx="106070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lang="en-US" sz="40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Case Study Analysis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" name="Google Shape;54;p3"/>
          <p:cNvCxnSpPr/>
          <p:nvPr/>
        </p:nvCxnSpPr>
        <p:spPr>
          <a:xfrm>
            <a:off x="868680" y="3840480"/>
            <a:ext cx="2743200" cy="0"/>
          </a:xfrm>
          <a:prstGeom prst="straightConnector1">
            <a:avLst/>
          </a:prstGeom>
          <a:noFill/>
          <a:ln w="25400" cap="flat" cmpd="sng">
            <a:solidFill>
              <a:srgbClr val="2EC4B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5" name="Google Shape;55;p3"/>
          <p:cNvSpPr txBox="1"/>
          <p:nvPr/>
        </p:nvSpPr>
        <p:spPr>
          <a:xfrm>
            <a:off x="868680" y="402336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7D2E0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6"/>
          <p:cNvSpPr txBox="1"/>
          <p:nvPr/>
        </p:nvSpPr>
        <p:spPr>
          <a:xfrm>
            <a:off x="548640" y="365760"/>
            <a:ext cx="110642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1F2937"/>
                </a:solidFill>
                <a:latin typeface="Cambria"/>
                <a:ea typeface="Cambria"/>
                <a:cs typeface="Cambria"/>
                <a:sym typeface="Cambria"/>
              </a:rPr>
              <a:t>Q2 · Amazon — The Early-2000s Challenge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6"/>
          <p:cNvSpPr txBox="1"/>
          <p:nvPr/>
        </p:nvSpPr>
        <p:spPr>
          <a:xfrm>
            <a:off x="566928" y="1024128"/>
            <a:ext cx="110642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673"/>
              </a:buClr>
              <a:buSzPts val="1350"/>
              <a:buFont typeface="Calibri"/>
              <a:buNone/>
            </a:pPr>
            <a:r>
              <a:rPr lang="en-US" sz="1350" b="0" i="1" u="none" strike="noStrike" cap="none">
                <a:solidFill>
                  <a:srgbClr val="5B6673"/>
                </a:solidFill>
                <a:latin typeface="Calibri"/>
                <a:ea typeface="Calibri"/>
                <a:cs typeface="Calibri"/>
                <a:sym typeface="Calibri"/>
              </a:rPr>
              <a:t>Rapid growth on a monolith caused frequent outages and slow releases, hurting revenue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6"/>
          <p:cNvSpPr txBox="1"/>
          <p:nvPr/>
        </p:nvSpPr>
        <p:spPr>
          <a:xfrm>
            <a:off x="640080" y="1572768"/>
            <a:ext cx="521208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50"/>
              <a:buFont typeface="Calibri"/>
              <a:buChar char="•"/>
            </a:pPr>
            <a:r>
              <a:rPr lang="en-US" sz="1350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“Obidos” monolith on shared databases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700"/>
              </a:spcBef>
              <a:spcAft>
                <a:spcPts val="0"/>
              </a:spcAft>
              <a:buClr>
                <a:srgbClr val="1F2937"/>
              </a:buClr>
              <a:buSzPts val="1350"/>
              <a:buFont typeface="Calibri"/>
              <a:buChar char="•"/>
            </a:pPr>
            <a:r>
              <a:rPr lang="en-US" sz="1350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Frequent site-wide outages — one fault took down the whole site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700"/>
              </a:spcBef>
              <a:spcAft>
                <a:spcPts val="0"/>
              </a:spcAft>
              <a:buClr>
                <a:srgbClr val="1F2937"/>
              </a:buClr>
              <a:buSzPts val="1350"/>
              <a:buFont typeface="Calibri"/>
              <a:buChar char="•"/>
            </a:pPr>
            <a:r>
              <a:rPr lang="en-US" sz="1350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Slow, infrequent big-bang releases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700"/>
              </a:spcBef>
              <a:spcAft>
                <a:spcPts val="0"/>
              </a:spcAft>
              <a:buClr>
                <a:srgbClr val="1F2937"/>
              </a:buClr>
              <a:buSzPts val="1350"/>
              <a:buFont typeface="Calibri"/>
              <a:buChar char="•"/>
            </a:pPr>
            <a:r>
              <a:rPr lang="en-US" sz="1350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Coordination bottleneck — hundreds of engineers on one codebase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700"/>
              </a:spcBef>
              <a:spcAft>
                <a:spcPts val="0"/>
              </a:spcAft>
              <a:buClr>
                <a:srgbClr val="1F2937"/>
              </a:buClr>
              <a:buSzPts val="1350"/>
              <a:buFont typeface="Calibri"/>
              <a:buChar char="•"/>
            </a:pPr>
            <a:r>
              <a:rPr lang="en-US" sz="1350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Vertical scaling limits; every outage hit customer experience and revenue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4" name="Google Shape;64;p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80760" y="1920240"/>
            <a:ext cx="5715000" cy="2501024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6"/>
          <p:cNvSpPr/>
          <p:nvPr/>
        </p:nvSpPr>
        <p:spPr>
          <a:xfrm>
            <a:off x="6080760" y="1920240"/>
            <a:ext cx="5715000" cy="2501024"/>
          </a:xfrm>
          <a:prstGeom prst="rect">
            <a:avLst/>
          </a:prstGeom>
          <a:noFill/>
          <a:ln w="12700" cap="flat" cmpd="sng">
            <a:solidFill>
              <a:srgbClr val="B9C4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6"/>
          <p:cNvSpPr txBox="1"/>
          <p:nvPr/>
        </p:nvSpPr>
        <p:spPr>
          <a:xfrm>
            <a:off x="640080" y="4466984"/>
            <a:ext cx="1090879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673"/>
              </a:buClr>
              <a:buSzPts val="1050"/>
              <a:buFont typeface="Calibri"/>
              <a:buNone/>
            </a:pPr>
            <a:r>
              <a:rPr lang="en-US" sz="1050" b="0" i="1" u="none" strike="noStrike" cap="none">
                <a:solidFill>
                  <a:srgbClr val="5B6673"/>
                </a:solidFill>
                <a:latin typeface="Calibri"/>
                <a:ea typeface="Calibri"/>
                <a:cs typeface="Calibri"/>
                <a:sym typeface="Calibri"/>
              </a:rPr>
              <a:t>One monolith owned by one big team  →  many small services, each owned by a two-pizza team.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7"/>
          <p:cNvSpPr txBox="1"/>
          <p:nvPr/>
        </p:nvSpPr>
        <p:spPr>
          <a:xfrm>
            <a:off x="548640" y="365760"/>
            <a:ext cx="110642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1F2937"/>
                </a:solidFill>
                <a:latin typeface="Cambria"/>
                <a:ea typeface="Cambria"/>
                <a:cs typeface="Cambria"/>
                <a:sym typeface="Cambria"/>
              </a:rPr>
              <a:t>Q2 · Amazon — Solution &amp; the Culture of Continuous Innovation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7"/>
          <p:cNvSpPr/>
          <p:nvPr/>
        </p:nvSpPr>
        <p:spPr>
          <a:xfrm>
            <a:off x="640080" y="1463040"/>
            <a:ext cx="5852160" cy="4846320"/>
          </a:xfrm>
          <a:prstGeom prst="roundRect">
            <a:avLst>
              <a:gd name="adj" fmla="val 1698"/>
            </a:avLst>
          </a:prstGeom>
          <a:solidFill>
            <a:srgbClr val="F2F6F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7"/>
          <p:cNvSpPr txBox="1"/>
          <p:nvPr/>
        </p:nvSpPr>
        <p:spPr>
          <a:xfrm>
            <a:off x="868680" y="16459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How DevOps solved it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7"/>
          <p:cNvSpPr txBox="1"/>
          <p:nvPr/>
        </p:nvSpPr>
        <p:spPr>
          <a:xfrm>
            <a:off x="868680" y="2148840"/>
            <a:ext cx="544068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50"/>
              <a:buFont typeface="Calibri"/>
              <a:buChar char="•"/>
            </a:pPr>
            <a:r>
              <a:rPr lang="en-US" sz="1250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Two-pizza teams — small autonomous teams own a service end-to-end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700"/>
              </a:spcBef>
              <a:spcAft>
                <a:spcPts val="0"/>
              </a:spcAft>
              <a:buClr>
                <a:srgbClr val="1F2937"/>
              </a:buClr>
              <a:buSzPts val="1250"/>
              <a:buFont typeface="Calibri"/>
              <a:buChar char="•"/>
            </a:pPr>
            <a:r>
              <a:rPr lang="en-US" sz="1250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Microservices + the API mandate — services talk only through APIs (the seed of AWS)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700"/>
              </a:spcBef>
              <a:spcAft>
                <a:spcPts val="0"/>
              </a:spcAft>
              <a:buClr>
                <a:srgbClr val="1F2937"/>
              </a:buClr>
              <a:buSzPts val="1250"/>
              <a:buFont typeface="Calibri"/>
              <a:buChar char="•"/>
            </a:pPr>
            <a:r>
              <a:rPr lang="en-US" sz="1250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CI/CD automation — thousands of independent, safe, continuous deploys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700"/>
              </a:spcBef>
              <a:spcAft>
                <a:spcPts val="0"/>
              </a:spcAft>
              <a:buClr>
                <a:srgbClr val="1F2937"/>
              </a:buClr>
              <a:buSzPts val="1250"/>
              <a:buFont typeface="Calibri"/>
              <a:buChar char="•"/>
            </a:pPr>
            <a:r>
              <a:rPr lang="en-US" sz="1250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Organisation mirrors architecture — team boundaries match service boundaries</a:t>
            </a:r>
            <a:endParaRPr sz="1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7"/>
          <p:cNvSpPr/>
          <p:nvPr/>
        </p:nvSpPr>
        <p:spPr>
          <a:xfrm>
            <a:off x="6675120" y="1463040"/>
            <a:ext cx="4873752" cy="2011680"/>
          </a:xfrm>
          <a:prstGeom prst="roundRect">
            <a:avLst>
              <a:gd name="adj" fmla="val 4091"/>
            </a:avLst>
          </a:prstGeom>
          <a:solidFill>
            <a:srgbClr val="2129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7"/>
          <p:cNvSpPr txBox="1"/>
          <p:nvPr/>
        </p:nvSpPr>
        <p:spPr>
          <a:xfrm>
            <a:off x="6675120" y="1691640"/>
            <a:ext cx="4873752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4000"/>
              <a:buFont typeface="Cambria"/>
              <a:buNone/>
            </a:pPr>
            <a:r>
              <a:rPr lang="en-US" sz="4000" b="1" i="0" u="none" strike="noStrike" cap="none">
                <a:solidFill>
                  <a:srgbClr val="2EC4B6"/>
                </a:solidFill>
                <a:latin typeface="Cambria"/>
                <a:ea typeface="Cambria"/>
                <a:cs typeface="Cambria"/>
                <a:sym typeface="Cambria"/>
              </a:rPr>
              <a:t>~ every 11.7 s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7"/>
          <p:cNvSpPr txBox="1"/>
          <p:nvPr/>
        </p:nvSpPr>
        <p:spPr>
          <a:xfrm>
            <a:off x="6903720" y="2560320"/>
            <a:ext cx="4416552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7D2E0"/>
              </a:buClr>
              <a:buSzPts val="1200"/>
              <a:buFont typeface="Calibri"/>
              <a:buNone/>
            </a:pPr>
            <a:r>
              <a:rPr lang="en-US" sz="1200" b="0" i="1" u="none" strike="noStrike" cap="none">
                <a:solidFill>
                  <a:srgbClr val="C7D2E0"/>
                </a:solidFill>
                <a:latin typeface="Calibri"/>
                <a:ea typeface="Calibri"/>
                <a:cs typeface="Calibri"/>
                <a:sym typeface="Calibri"/>
              </a:rPr>
              <a:t>a production deployment across Amazon (2011) — the sum of thousands of tiny automated releases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7"/>
          <p:cNvSpPr/>
          <p:nvPr/>
        </p:nvSpPr>
        <p:spPr>
          <a:xfrm>
            <a:off x="6675120" y="3657600"/>
            <a:ext cx="4873752" cy="2651760"/>
          </a:xfrm>
          <a:prstGeom prst="roundRect">
            <a:avLst>
              <a:gd name="adj" fmla="val 3103"/>
            </a:avLst>
          </a:prstGeom>
          <a:solidFill>
            <a:srgbClr val="EAF4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7"/>
          <p:cNvSpPr txBox="1"/>
          <p:nvPr/>
        </p:nvSpPr>
        <p:spPr>
          <a:xfrm>
            <a:off x="6903720" y="3840480"/>
            <a:ext cx="43891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Impact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7"/>
          <p:cNvSpPr txBox="1"/>
          <p:nvPr/>
        </p:nvSpPr>
        <p:spPr>
          <a:xfrm>
            <a:off x="6903720" y="4315968"/>
            <a:ext cx="4416552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Calibri"/>
              <a:buChar char="•"/>
            </a:pPr>
            <a:r>
              <a:rPr lang="en-US" sz="1200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Fault isolation → smaller, contained outages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70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Calibri"/>
              <a:buChar char="•"/>
            </a:pPr>
            <a:r>
              <a:rPr lang="en-US" sz="1200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Release cadence: weeks → seconds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70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Calibri"/>
              <a:buChar char="•"/>
            </a:pPr>
            <a:r>
              <a:rPr lang="en-US" sz="1200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Each service scales independently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70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Calibri"/>
              <a:buChar char="•"/>
            </a:pPr>
            <a:r>
              <a:rPr lang="en-US" sz="1200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Internal platform externalised → AWS was born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8"/>
          <p:cNvSpPr txBox="1"/>
          <p:nvPr/>
        </p:nvSpPr>
        <p:spPr>
          <a:xfrm>
            <a:off x="822960" y="233172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1800"/>
              <a:buFont typeface="Calibri"/>
              <a:buNone/>
            </a:pPr>
            <a:r>
              <a:rPr lang="en-US" sz="1800" b="1" i="0" u="none" strike="noStrike" cap="none" spc="200">
                <a:solidFill>
                  <a:srgbClr val="2EC4B6"/>
                </a:solidFill>
                <a:latin typeface="Calibri"/>
                <a:ea typeface="Calibri"/>
                <a:cs typeface="Calibri"/>
                <a:sym typeface="Calibri"/>
              </a:rPr>
              <a:t>PART B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8"/>
          <p:cNvSpPr txBox="1"/>
          <p:nvPr/>
        </p:nvSpPr>
        <p:spPr>
          <a:xfrm>
            <a:off x="804672" y="2834640"/>
            <a:ext cx="1060704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mbria"/>
              <a:buNone/>
            </a:pPr>
            <a:r>
              <a:rPr lang="en-US" sz="40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Implementation Tasks</a:t>
            </a:r>
            <a:endParaRPr sz="4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9" name="Google Shape;89;p8"/>
          <p:cNvCxnSpPr/>
          <p:nvPr/>
        </p:nvCxnSpPr>
        <p:spPr>
          <a:xfrm>
            <a:off x="868680" y="3840480"/>
            <a:ext cx="2743200" cy="0"/>
          </a:xfrm>
          <a:prstGeom prst="straightConnector1">
            <a:avLst/>
          </a:prstGeom>
          <a:noFill/>
          <a:ln w="25400" cap="flat" cmpd="sng">
            <a:solidFill>
              <a:srgbClr val="2EC4B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0" name="Google Shape;90;p8"/>
          <p:cNvSpPr txBox="1"/>
          <p:nvPr/>
        </p:nvSpPr>
        <p:spPr>
          <a:xfrm>
            <a:off x="868680" y="402336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7D2E0"/>
              </a:buClr>
              <a:buSzPts val="1400"/>
              <a:buFont typeface="Calibri"/>
              <a:buNone/>
            </a:pPr>
            <a:r>
              <a:rPr lang="en-US" sz="1400" b="0" i="1" u="none" strike="noStrike" cap="none">
                <a:solidFill>
                  <a:srgbClr val="C7D2E0"/>
                </a:solidFill>
                <a:latin typeface="Calibri"/>
                <a:ea typeface="Calibri"/>
                <a:cs typeface="Calibri"/>
                <a:sym typeface="Calibri"/>
              </a:rPr>
              <a:t>One hello-service: provisioned → built → shipped → observed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 txBox="1"/>
          <p:nvPr/>
        </p:nvSpPr>
        <p:spPr>
          <a:xfrm>
            <a:off x="548640" y="365760"/>
            <a:ext cx="110642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1F2937"/>
                </a:solidFill>
                <a:latin typeface="Cambria"/>
                <a:ea typeface="Cambria"/>
                <a:cs typeface="Cambria"/>
                <a:sym typeface="Cambria"/>
              </a:rPr>
              <a:t>Task 1 · Deployment Strategy — GitHub Actions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"/>
          <p:cNvSpPr txBox="1"/>
          <p:nvPr/>
        </p:nvSpPr>
        <p:spPr>
          <a:xfrm>
            <a:off x="566928" y="1024128"/>
            <a:ext cx="110642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673"/>
              </a:buClr>
              <a:buSzPts val="1350"/>
              <a:buFont typeface="Calibri"/>
              <a:buNone/>
            </a:pPr>
            <a:r>
              <a:rPr lang="en-US" sz="1350" b="0" i="1" u="none" strike="noStrike" cap="none">
                <a:solidFill>
                  <a:srgbClr val="5B6673"/>
                </a:solidFill>
                <a:latin typeface="Calibri"/>
                <a:ea typeface="Calibri"/>
                <a:cs typeface="Calibri"/>
                <a:sym typeface="Calibri"/>
              </a:rPr>
              <a:t>Tool chosen: GitHub Actions — CI/CD lives in the repo and deploys straight to k3s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04680" y="1481328"/>
            <a:ext cx="6379591" cy="34290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9"/>
          <p:cNvSpPr/>
          <p:nvPr/>
        </p:nvSpPr>
        <p:spPr>
          <a:xfrm>
            <a:off x="2904680" y="1481328"/>
            <a:ext cx="6379591" cy="3429000"/>
          </a:xfrm>
          <a:prstGeom prst="rect">
            <a:avLst/>
          </a:prstGeom>
          <a:noFill/>
          <a:ln w="12700" cap="flat" cmpd="sng">
            <a:solidFill>
              <a:srgbClr val="B9C4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9"/>
          <p:cNvSpPr txBox="1"/>
          <p:nvPr/>
        </p:nvSpPr>
        <p:spPr>
          <a:xfrm>
            <a:off x="640080" y="5074920"/>
            <a:ext cx="10908792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Calibri"/>
              <a:buChar char="•"/>
            </a:pPr>
            <a:r>
              <a:rPr lang="en-US" sz="1200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Trigger on push to main / manual — three dependent jobs run in order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30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Calibri"/>
              <a:buChar char="•"/>
            </a:pPr>
            <a:r>
              <a:rPr lang="en-US" sz="1200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Build &amp; test (javac + /health smoke test)  →  Docker build &amp; push to GHCR (tagged :sha)  →  Deploy to k3s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300"/>
              </a:spcBef>
              <a:spcAft>
                <a:spcPts val="0"/>
              </a:spcAft>
              <a:buClr>
                <a:srgbClr val="1F2937"/>
              </a:buClr>
              <a:buSzPts val="1200"/>
              <a:buFont typeface="Calibri"/>
              <a:buChar char="•"/>
            </a:pPr>
            <a:r>
              <a:rPr lang="en-US" sz="1200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kubectl rollout status is the quality gate; a failed rollout triggers automatic rollback; secrets stay in Actions secrets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0"/>
          <p:cNvSpPr txBox="1"/>
          <p:nvPr/>
        </p:nvSpPr>
        <p:spPr>
          <a:xfrm>
            <a:off x="548640" y="365760"/>
            <a:ext cx="110642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1F2937"/>
                </a:solidFill>
                <a:latin typeface="Cambria"/>
                <a:ea typeface="Cambria"/>
                <a:cs typeface="Cambria"/>
                <a:sym typeface="Cambria"/>
              </a:rPr>
              <a:t>Task 1 · Workflow File &amp; Pipeline Run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0"/>
          <p:cNvSpPr txBox="1"/>
          <p:nvPr/>
        </p:nvSpPr>
        <p:spPr>
          <a:xfrm>
            <a:off x="640080" y="137160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.github/workflows/deploy.yml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0"/>
          <p:cNvSpPr/>
          <p:nvPr/>
        </p:nvSpPr>
        <p:spPr>
          <a:xfrm>
            <a:off x="640080" y="1783080"/>
            <a:ext cx="5486400" cy="4343400"/>
          </a:xfrm>
          <a:prstGeom prst="roundRect">
            <a:avLst>
              <a:gd name="adj" fmla="val 1895"/>
            </a:avLst>
          </a:prstGeom>
          <a:solidFill>
            <a:srgbClr val="0F2A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10"/>
          <p:cNvSpPr txBox="1"/>
          <p:nvPr/>
        </p:nvSpPr>
        <p:spPr>
          <a:xfrm>
            <a:off x="822960" y="1911096"/>
            <a:ext cx="5120640" cy="4087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D6E6EE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D6E6EE"/>
                </a:solidFill>
                <a:latin typeface="Consolas"/>
                <a:ea typeface="Consolas"/>
                <a:cs typeface="Consolas"/>
                <a:sym typeface="Consolas"/>
              </a:rPr>
              <a:t>name: hello-service CI/CD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D6E6EE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D6E6EE"/>
                </a:solidFill>
                <a:latin typeface="Consolas"/>
                <a:ea typeface="Consolas"/>
                <a:cs typeface="Consolas"/>
                <a:sym typeface="Consolas"/>
              </a:rPr>
              <a:t>on: [ push(main), workflow_dispatch ]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D6E6EE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D6E6EE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D6E6EE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D6E6EE"/>
                </a:solidFill>
                <a:latin typeface="Consolas"/>
                <a:ea typeface="Consolas"/>
                <a:cs typeface="Consolas"/>
                <a:sym typeface="Consolas"/>
              </a:rPr>
              <a:t>jobs: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D6E6EE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D6E6EE"/>
                </a:solidFill>
                <a:latin typeface="Consolas"/>
                <a:ea typeface="Consolas"/>
                <a:cs typeface="Consolas"/>
                <a:sym typeface="Consolas"/>
              </a:rPr>
              <a:t>  build-and-test:        # ubuntu-latest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D6E6EE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D6E6EE"/>
                </a:solidFill>
                <a:latin typeface="Consolas"/>
                <a:ea typeface="Consolas"/>
                <a:cs typeface="Consolas"/>
                <a:sym typeface="Consolas"/>
              </a:rPr>
              <a:t>    setup-java 21  -&gt;  javac Main.java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D6E6EE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D6E6EE"/>
                </a:solidFill>
                <a:latin typeface="Consolas"/>
                <a:ea typeface="Consolas"/>
                <a:cs typeface="Consolas"/>
                <a:sym typeface="Consolas"/>
              </a:rPr>
              <a:t>    smoke test:  /health == 200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D6E6EE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D6E6EE"/>
                </a:solidFill>
                <a:latin typeface="Consolas"/>
                <a:ea typeface="Consolas"/>
                <a:cs typeface="Consolas"/>
                <a:sym typeface="Consolas"/>
              </a:rPr>
              <a:t>    upload build artifact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D6E6EE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D6E6EE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D6E6EE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D6E6EE"/>
                </a:solidFill>
                <a:latin typeface="Consolas"/>
                <a:ea typeface="Consolas"/>
                <a:cs typeface="Consolas"/>
                <a:sym typeface="Consolas"/>
              </a:rPr>
              <a:t>  docker-build-and-push: # needs build-and-test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D6E6EE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D6E6EE"/>
                </a:solidFill>
                <a:latin typeface="Consolas"/>
                <a:ea typeface="Consolas"/>
                <a:cs typeface="Consolas"/>
                <a:sym typeface="Consolas"/>
              </a:rPr>
              <a:t>    login GHCR (GITHUB_TOKEN)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D6E6EE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D6E6EE"/>
                </a:solidFill>
                <a:latin typeface="Consolas"/>
                <a:ea typeface="Consolas"/>
                <a:cs typeface="Consolas"/>
                <a:sym typeface="Consolas"/>
              </a:rPr>
              <a:t>    docker build (multi-stage)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D6E6EE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D6E6EE"/>
                </a:solidFill>
                <a:latin typeface="Consolas"/>
                <a:ea typeface="Consolas"/>
                <a:cs typeface="Consolas"/>
                <a:sym typeface="Consolas"/>
              </a:rPr>
              <a:t>    tag :&lt;sha&gt; + :latest  -&gt;  push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D6E6EE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D6E6EE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D6E6EE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D6E6EE"/>
                </a:solidFill>
                <a:latin typeface="Consolas"/>
                <a:ea typeface="Consolas"/>
                <a:cs typeface="Consolas"/>
                <a:sym typeface="Consolas"/>
              </a:rPr>
              <a:t>  deploy:                # needs docker-build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D6E6EE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D6E6EE"/>
                </a:solidFill>
                <a:latin typeface="Consolas"/>
                <a:ea typeface="Consolas"/>
                <a:cs typeface="Consolas"/>
                <a:sym typeface="Consolas"/>
              </a:rPr>
              <a:t>    runs-on: self-hosted (k3s VM)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D6E6EE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D6E6EE"/>
                </a:solidFill>
                <a:latin typeface="Consolas"/>
                <a:ea typeface="Consolas"/>
                <a:cs typeface="Consolas"/>
                <a:sym typeface="Consolas"/>
              </a:rPr>
              <a:t>    kubectl set image ...hello-service=:&lt;sha&gt;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D6E6EE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D6E6EE"/>
                </a:solidFill>
                <a:latin typeface="Consolas"/>
                <a:ea typeface="Consolas"/>
                <a:cs typeface="Consolas"/>
                <a:sym typeface="Consolas"/>
              </a:rPr>
              <a:t>    kubectl rollout status   # quality gate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D6E6EE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D6E6EE"/>
                </a:solidFill>
                <a:latin typeface="Consolas"/>
                <a:ea typeface="Consolas"/>
                <a:cs typeface="Consolas"/>
                <a:sym typeface="Consolas"/>
              </a:rPr>
              <a:t>    if failure -&gt; kubectl rollout undo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1"/>
          <p:cNvSpPr txBox="1"/>
          <p:nvPr/>
        </p:nvSpPr>
        <p:spPr>
          <a:xfrm>
            <a:off x="548640" y="365760"/>
            <a:ext cx="110642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1F2937"/>
                </a:solidFill>
                <a:latin typeface="Cambria"/>
                <a:ea typeface="Cambria"/>
                <a:cs typeface="Cambria"/>
                <a:sym typeface="Cambria"/>
              </a:rPr>
              <a:t>Task 2 · Configuration Management &amp; IaC — Ansible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1"/>
          <p:cNvSpPr txBox="1"/>
          <p:nvPr/>
        </p:nvSpPr>
        <p:spPr>
          <a:xfrm>
            <a:off x="566928" y="1024128"/>
            <a:ext cx="110642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673"/>
              </a:buClr>
              <a:buSzPts val="1350"/>
              <a:buFont typeface="Calibri"/>
              <a:buNone/>
            </a:pPr>
            <a:r>
              <a:rPr lang="en-US" sz="1350" b="0" i="1" u="none" strike="noStrike" cap="none">
                <a:solidFill>
                  <a:srgbClr val="5B6673"/>
                </a:solidFill>
                <a:latin typeface="Calibri"/>
                <a:ea typeface="Calibri"/>
                <a:cs typeface="Calibri"/>
                <a:sym typeface="Calibri"/>
              </a:rPr>
              <a:t>Agentless over SSH — declares the desired state of a Debian host and enforces it idempotently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1"/>
          <p:cNvSpPr txBox="1"/>
          <p:nvPr/>
        </p:nvSpPr>
        <p:spPr>
          <a:xfrm>
            <a:off x="640080" y="1600200"/>
            <a:ext cx="521208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50"/>
              <a:buFont typeface="Calibri"/>
              <a:buChar char="•"/>
            </a:pPr>
            <a:r>
              <a:rPr lang="en-US" sz="1350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Installs packages (htop, tree, jq)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700"/>
              </a:spcBef>
              <a:spcAft>
                <a:spcPts val="0"/>
              </a:spcAft>
              <a:buClr>
                <a:srgbClr val="1F2937"/>
              </a:buClr>
              <a:buSzPts val="1350"/>
              <a:buFont typeface="Calibri"/>
              <a:buChar char="•"/>
            </a:pPr>
            <a:r>
              <a:rPr lang="en-US" sz="1350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Creates a managed service account (devops-lab)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700"/>
              </a:spcBef>
              <a:spcAft>
                <a:spcPts val="0"/>
              </a:spcAft>
              <a:buClr>
                <a:srgbClr val="1F2937"/>
              </a:buClr>
              <a:buSzPts val="1350"/>
              <a:buFont typeface="Calibri"/>
              <a:buChar char="•"/>
            </a:pPr>
            <a:r>
              <a:rPr lang="en-US" sz="1350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Manages config files (/etc/motd banner + README)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700"/>
              </a:spcBef>
              <a:spcAft>
                <a:spcPts val="0"/>
              </a:spcAft>
              <a:buClr>
                <a:srgbClr val="1F2937"/>
              </a:buClr>
              <a:buSzPts val="1350"/>
              <a:buFont typeface="Calibri"/>
              <a:buChar char="•"/>
            </a:pPr>
            <a:r>
              <a:rPr lang="en-US" sz="1350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Idempotent — 1st run changed=4, 2nd run changed=0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700"/>
              </a:spcBef>
              <a:spcAft>
                <a:spcPts val="0"/>
              </a:spcAft>
              <a:buClr>
                <a:srgbClr val="1F2937"/>
              </a:buClr>
              <a:buSzPts val="1350"/>
              <a:buFont typeface="Calibri"/>
              <a:buChar char="•"/>
            </a:pPr>
            <a:r>
              <a:rPr lang="en-US" sz="1350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Secrets kept out of the repo (ansible-vault, not plain text)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1"/>
          <p:cNvSpPr txBox="1"/>
          <p:nvPr/>
        </p:nvSpPr>
        <p:spPr>
          <a:xfrm>
            <a:off x="6172200" y="1481328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65A82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playbook.yml (tasks)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1"/>
          <p:cNvSpPr/>
          <p:nvPr/>
        </p:nvSpPr>
        <p:spPr>
          <a:xfrm>
            <a:off x="6172200" y="1874520"/>
            <a:ext cx="5349240" cy="4023360"/>
          </a:xfrm>
          <a:prstGeom prst="roundRect">
            <a:avLst>
              <a:gd name="adj" fmla="val 2045"/>
            </a:avLst>
          </a:prstGeom>
          <a:solidFill>
            <a:srgbClr val="0F2A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11"/>
          <p:cNvSpPr txBox="1"/>
          <p:nvPr/>
        </p:nvSpPr>
        <p:spPr>
          <a:xfrm>
            <a:off x="6355080" y="2002536"/>
            <a:ext cx="4983480" cy="376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D6E6EE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D6E6EE"/>
                </a:solidFill>
                <a:latin typeface="Consolas"/>
                <a:ea typeface="Consolas"/>
                <a:cs typeface="Consolas"/>
                <a:sym typeface="Consolas"/>
              </a:rPr>
              <a:t>- hosts: ca2_vm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D6E6EE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D6E6EE"/>
                </a:solidFill>
                <a:latin typeface="Consolas"/>
                <a:ea typeface="Consolas"/>
                <a:cs typeface="Consolas"/>
                <a:sym typeface="Consolas"/>
              </a:rPr>
              <a:t>  become: true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D6E6EE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D6E6EE"/>
                </a:solidFill>
                <a:latin typeface="Consolas"/>
                <a:ea typeface="Consolas"/>
                <a:cs typeface="Consolas"/>
                <a:sym typeface="Consolas"/>
              </a:rPr>
              <a:t>  tasks: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D6E6EE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D6E6EE"/>
                </a:solidFill>
                <a:latin typeface="Consolas"/>
                <a:ea typeface="Consolas"/>
                <a:cs typeface="Consolas"/>
                <a:sym typeface="Consolas"/>
              </a:rPr>
              <a:t>    - apt: {name:[htop,tree,jq], state:present}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D6E6EE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D6E6EE"/>
                </a:solidFill>
                <a:latin typeface="Consolas"/>
                <a:ea typeface="Consolas"/>
                <a:cs typeface="Consolas"/>
                <a:sym typeface="Consolas"/>
              </a:rPr>
              <a:t>    - user: {name:devops-lab, shell:/bin/bash,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D6E6EE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D6E6EE"/>
                </a:solidFill>
                <a:latin typeface="Consolas"/>
                <a:ea typeface="Consolas"/>
                <a:cs typeface="Consolas"/>
                <a:sym typeface="Consolas"/>
              </a:rPr>
              <a:t>             create_home:true}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D6E6EE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D6E6EE"/>
                </a:solidFill>
                <a:latin typeface="Consolas"/>
                <a:ea typeface="Consolas"/>
                <a:cs typeface="Consolas"/>
                <a:sym typeface="Consolas"/>
              </a:rPr>
              <a:t>    - copy: {dest:/etc/motd, content:'...banner'}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D6E6EE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D6E6EE"/>
                </a:solidFill>
                <a:latin typeface="Consolas"/>
                <a:ea typeface="Consolas"/>
                <a:cs typeface="Consolas"/>
                <a:sym typeface="Consolas"/>
              </a:rPr>
              <a:t>    - copy: {dest:/home/devops-lab/README.txt,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D6E6EE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D6E6EE"/>
                </a:solidFill>
                <a:latin typeface="Consolas"/>
                <a:ea typeface="Consolas"/>
                <a:cs typeface="Consolas"/>
                <a:sym typeface="Consolas"/>
              </a:rPr>
              <a:t>             content:'...managed by Ansible'}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D6E6EE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D6E6EE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D6E6EE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D6E6EE"/>
                </a:solidFill>
                <a:latin typeface="Consolas"/>
                <a:ea typeface="Consolas"/>
                <a:cs typeface="Consolas"/>
                <a:sym typeface="Consolas"/>
              </a:rPr>
              <a:t># inventory.ini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D6E6EE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D6E6EE"/>
                </a:solidFill>
                <a:latin typeface="Consolas"/>
                <a:ea typeface="Consolas"/>
                <a:cs typeface="Consolas"/>
                <a:sym typeface="Consolas"/>
              </a:rPr>
              <a:t>[ca2_vm]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D6E6EE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D6E6EE"/>
                </a:solidFill>
                <a:latin typeface="Consolas"/>
                <a:ea typeface="Consolas"/>
                <a:cs typeface="Consolas"/>
                <a:sym typeface="Consolas"/>
              </a:rPr>
              <a:t>192.168.1.109 ansible_user=zeyo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2"/>
          <p:cNvSpPr txBox="1"/>
          <p:nvPr/>
        </p:nvSpPr>
        <p:spPr>
          <a:xfrm>
            <a:off x="548640" y="365760"/>
            <a:ext cx="110642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1F2937"/>
                </a:solidFill>
                <a:latin typeface="Cambria"/>
                <a:ea typeface="Cambria"/>
                <a:cs typeface="Cambria"/>
                <a:sym typeface="Cambria"/>
              </a:rPr>
              <a:t>Task 2 · Playbook Run (first run)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7" name="Google Shape;127;p1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89960" y="1371600"/>
            <a:ext cx="9409032" cy="2084832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2"/>
          <p:cNvSpPr/>
          <p:nvPr/>
        </p:nvSpPr>
        <p:spPr>
          <a:xfrm>
            <a:off x="1389960" y="1371600"/>
            <a:ext cx="9409032" cy="2084832"/>
          </a:xfrm>
          <a:prstGeom prst="rect">
            <a:avLst/>
          </a:prstGeom>
          <a:noFill/>
          <a:ln w="12700" cap="flat" cmpd="sng">
            <a:solidFill>
              <a:srgbClr val="B9C4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12"/>
          <p:cNvSpPr txBox="1"/>
          <p:nvPr/>
        </p:nvSpPr>
        <p:spPr>
          <a:xfrm>
            <a:off x="640080" y="3493008"/>
            <a:ext cx="1090879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673"/>
              </a:buClr>
              <a:buSzPts val="1050"/>
              <a:buFont typeface="Calibri"/>
              <a:buNone/>
            </a:pPr>
            <a:r>
              <a:rPr lang="en-US" sz="1050" b="0" i="1" u="none" strike="noStrike" cap="none">
                <a:solidFill>
                  <a:srgbClr val="5B6673"/>
                </a:solidFill>
                <a:latin typeface="Calibri"/>
                <a:ea typeface="Calibri"/>
                <a:cs typeface="Calibri"/>
                <a:sym typeface="Calibri"/>
              </a:rPr>
              <a:t>First run — gathers facts, installs htop/tree/jq and creates the devops-lab service account (changed).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0" name="Google Shape;130;p1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0080" y="3977640"/>
            <a:ext cx="10908792" cy="1866977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2"/>
          <p:cNvSpPr/>
          <p:nvPr/>
        </p:nvSpPr>
        <p:spPr>
          <a:xfrm>
            <a:off x="640080" y="3977640"/>
            <a:ext cx="10908792" cy="1866977"/>
          </a:xfrm>
          <a:prstGeom prst="rect">
            <a:avLst/>
          </a:prstGeom>
          <a:noFill/>
          <a:ln w="12700" cap="flat" cmpd="sng">
            <a:solidFill>
              <a:srgbClr val="B9C4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12"/>
          <p:cNvSpPr txBox="1"/>
          <p:nvPr/>
        </p:nvSpPr>
        <p:spPr>
          <a:xfrm>
            <a:off x="640080" y="5881193"/>
            <a:ext cx="1090879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673"/>
              </a:buClr>
              <a:buSzPts val="1050"/>
              <a:buFont typeface="Calibri"/>
              <a:buNone/>
            </a:pPr>
            <a:r>
              <a:rPr lang="en-US" sz="1050" b="0" i="1" u="none" strike="noStrike" cap="none">
                <a:solidFill>
                  <a:srgbClr val="5B6673"/>
                </a:solidFill>
                <a:latin typeface="Calibri"/>
                <a:ea typeface="Calibri"/>
                <a:cs typeface="Calibri"/>
                <a:sym typeface="Calibri"/>
              </a:rPr>
              <a:t>First run completes — MOTD &amp; README deployed; PLAY RECAP: ok=6  changed=4  unreachable=0  failed=0.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3"/>
          <p:cNvSpPr txBox="1"/>
          <p:nvPr/>
        </p:nvSpPr>
        <p:spPr>
          <a:xfrm>
            <a:off x="548640" y="365760"/>
            <a:ext cx="110642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1F2937"/>
                </a:solidFill>
                <a:latin typeface="Cambria"/>
                <a:ea typeface="Cambria"/>
                <a:cs typeface="Cambria"/>
                <a:sym typeface="Cambria"/>
              </a:rPr>
              <a:t>Task 2 · Idempotency &amp; Verification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9" name="Google Shape;139;p1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0080" y="1600200"/>
            <a:ext cx="10908792" cy="227944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3"/>
          <p:cNvSpPr/>
          <p:nvPr/>
        </p:nvSpPr>
        <p:spPr>
          <a:xfrm>
            <a:off x="640080" y="1600200"/>
            <a:ext cx="10908792" cy="2279449"/>
          </a:xfrm>
          <a:prstGeom prst="rect">
            <a:avLst/>
          </a:prstGeom>
          <a:noFill/>
          <a:ln w="12700" cap="flat" cmpd="sng">
            <a:solidFill>
              <a:srgbClr val="B9C4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13"/>
          <p:cNvSpPr txBox="1"/>
          <p:nvPr/>
        </p:nvSpPr>
        <p:spPr>
          <a:xfrm>
            <a:off x="640080" y="3934513"/>
            <a:ext cx="1090879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673"/>
              </a:buClr>
              <a:buSzPts val="1050"/>
              <a:buFont typeface="Calibri"/>
              <a:buNone/>
            </a:pPr>
            <a:r>
              <a:rPr lang="en-US" sz="1050" b="0" i="1" u="none" strike="noStrike" cap="none">
                <a:solidFill>
                  <a:srgbClr val="5B6673"/>
                </a:solidFill>
                <a:latin typeface="Calibri"/>
                <a:ea typeface="Calibri"/>
                <a:cs typeface="Calibri"/>
                <a:sym typeface="Calibri"/>
              </a:rPr>
              <a:t>Second run changes nothing (changed=0) — the host already matches the declared state; getent, /etc/motd and dpkg confirm it.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3"/>
          <p:cNvSpPr/>
          <p:nvPr/>
        </p:nvSpPr>
        <p:spPr>
          <a:xfrm>
            <a:off x="2286000" y="4892040"/>
            <a:ext cx="7589520" cy="1143000"/>
          </a:xfrm>
          <a:prstGeom prst="roundRect">
            <a:avLst>
              <a:gd name="adj" fmla="val 7200"/>
            </a:avLst>
          </a:prstGeom>
          <a:solidFill>
            <a:srgbClr val="EAF4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13"/>
          <p:cNvSpPr txBox="1"/>
          <p:nvPr/>
        </p:nvSpPr>
        <p:spPr>
          <a:xfrm>
            <a:off x="2560320" y="5074920"/>
            <a:ext cx="70408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700"/>
              <a:buFont typeface="Calibri"/>
              <a:buNone/>
            </a:pPr>
            <a:r>
              <a:rPr lang="en-US" sz="1700" b="1" i="0" u="none" strike="noStrike" cap="non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changed=0  </a:t>
            </a:r>
            <a:r>
              <a:rPr lang="en-US" sz="1300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Re-running the same playbook is safe — the core property of Infrastructure as Code: declare the state once, enforce it anywhere, repeatedly.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4"/>
          <p:cNvSpPr txBox="1"/>
          <p:nvPr/>
        </p:nvSpPr>
        <p:spPr>
          <a:xfrm>
            <a:off x="548640" y="365760"/>
            <a:ext cx="110642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1F2937"/>
                </a:solidFill>
                <a:latin typeface="Cambria"/>
                <a:ea typeface="Cambria"/>
                <a:cs typeface="Cambria"/>
                <a:sym typeface="Cambria"/>
              </a:rPr>
              <a:t>Task 3 · Containerization &amp; Orchestration — Docker + k3s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4"/>
          <p:cNvSpPr txBox="1"/>
          <p:nvPr/>
        </p:nvSpPr>
        <p:spPr>
          <a:xfrm>
            <a:off x="566928" y="1024128"/>
            <a:ext cx="110642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673"/>
              </a:buClr>
              <a:buSzPts val="1350"/>
              <a:buFont typeface="Calibri"/>
              <a:buNone/>
            </a:pPr>
            <a:r>
              <a:rPr lang="en-US" sz="1350" b="0" i="1" u="none" strike="noStrike" cap="none">
                <a:solidFill>
                  <a:srgbClr val="5B6673"/>
                </a:solidFill>
                <a:latin typeface="Calibri"/>
                <a:ea typeface="Calibri"/>
                <a:cs typeface="Calibri"/>
                <a:sym typeface="Calibri"/>
              </a:rPr>
              <a:t>Multi-stage image on a 3-replica Deployment; rolling update 1.0 → 2.0 and rollback, zero downtime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4"/>
          <p:cNvSpPr txBox="1"/>
          <p:nvPr/>
        </p:nvSpPr>
        <p:spPr>
          <a:xfrm>
            <a:off x="640080" y="1572768"/>
            <a:ext cx="548640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50"/>
              <a:buFont typeface="Calibri"/>
              <a:buChar char="•"/>
            </a:pPr>
            <a:r>
              <a:rPr lang="en-US" sz="1350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Multi-stage Dockerfile — JDK builds, JRE runs; non-root; APP_VERSION baked in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700"/>
              </a:spcBef>
              <a:spcAft>
                <a:spcPts val="0"/>
              </a:spcAft>
              <a:buClr>
                <a:srgbClr val="1F2937"/>
              </a:buClr>
              <a:buSzPts val="1350"/>
              <a:buFont typeface="Calibri"/>
              <a:buChar char="•"/>
            </a:pPr>
            <a:r>
              <a:rPr lang="en-US" sz="1350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Deployment: 3 replicas + NodePort Service (:30080)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700"/>
              </a:spcBef>
              <a:spcAft>
                <a:spcPts val="0"/>
              </a:spcAft>
              <a:buClr>
                <a:srgbClr val="1F2937"/>
              </a:buClr>
              <a:buSzPts val="1350"/>
              <a:buFont typeface="Calibri"/>
              <a:buChar char="•"/>
            </a:pPr>
            <a:r>
              <a:rPr lang="en-US" sz="1350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readiness / liveness probes on /health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700"/>
              </a:spcBef>
              <a:spcAft>
                <a:spcPts val="0"/>
              </a:spcAft>
              <a:buClr>
                <a:srgbClr val="1F2937"/>
              </a:buClr>
              <a:buSzPts val="1350"/>
              <a:buFont typeface="Calibri"/>
              <a:buChar char="•"/>
            </a:pPr>
            <a:r>
              <a:rPr lang="en-US" sz="1350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RollingUpdate: maxUnavailable 0, maxSurge 1 → never drops below 3 serving pods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700"/>
              </a:spcBef>
              <a:spcAft>
                <a:spcPts val="0"/>
              </a:spcAft>
              <a:buClr>
                <a:srgbClr val="1F2937"/>
              </a:buClr>
              <a:buSzPts val="1350"/>
              <a:buFont typeface="Calibri"/>
              <a:buChar char="•"/>
            </a:pPr>
            <a:r>
              <a:rPr lang="en-US" sz="1350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Each version = its own ReplicaSet → rollback is instant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4"/>
          <p:cNvSpPr txBox="1"/>
          <p:nvPr/>
        </p:nvSpPr>
        <p:spPr>
          <a:xfrm>
            <a:off x="6355080" y="1481328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6D28D9"/>
                </a:solidFill>
                <a:latin typeface="Calibri"/>
                <a:ea typeface="Calibri"/>
                <a:cs typeface="Calibri"/>
                <a:sym typeface="Calibri"/>
              </a:rPr>
              <a:t>strategy (deployment.yaml)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4"/>
          <p:cNvSpPr/>
          <p:nvPr/>
        </p:nvSpPr>
        <p:spPr>
          <a:xfrm>
            <a:off x="6355080" y="1874520"/>
            <a:ext cx="5166360" cy="3200400"/>
          </a:xfrm>
          <a:prstGeom prst="roundRect">
            <a:avLst>
              <a:gd name="adj" fmla="val 2571"/>
            </a:avLst>
          </a:prstGeom>
          <a:solidFill>
            <a:srgbClr val="0F2A3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14"/>
          <p:cNvSpPr txBox="1"/>
          <p:nvPr/>
        </p:nvSpPr>
        <p:spPr>
          <a:xfrm>
            <a:off x="6537960" y="2002536"/>
            <a:ext cx="4800600" cy="2944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D6E6EE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D6E6EE"/>
                </a:solidFill>
                <a:latin typeface="Consolas"/>
                <a:ea typeface="Consolas"/>
                <a:cs typeface="Consolas"/>
                <a:sym typeface="Consolas"/>
              </a:rPr>
              <a:t>strategy: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D6E6EE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D6E6EE"/>
                </a:solidFill>
                <a:latin typeface="Consolas"/>
                <a:ea typeface="Consolas"/>
                <a:cs typeface="Consolas"/>
                <a:sym typeface="Consolas"/>
              </a:rPr>
              <a:t>  type: RollingUpdate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D6E6EE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D6E6EE"/>
                </a:solidFill>
                <a:latin typeface="Consolas"/>
                <a:ea typeface="Consolas"/>
                <a:cs typeface="Consolas"/>
                <a:sym typeface="Consolas"/>
              </a:rPr>
              <a:t>  rollingUpdate: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D6E6EE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D6E6EE"/>
                </a:solidFill>
                <a:latin typeface="Consolas"/>
                <a:ea typeface="Consolas"/>
                <a:cs typeface="Consolas"/>
                <a:sym typeface="Consolas"/>
              </a:rPr>
              <a:t>    maxSurge: 1        # +1 extra pod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D6E6EE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D6E6EE"/>
                </a:solidFill>
                <a:latin typeface="Consolas"/>
                <a:ea typeface="Consolas"/>
                <a:cs typeface="Consolas"/>
                <a:sym typeface="Consolas"/>
              </a:rPr>
              <a:t>    maxUnavailable: 0  # zero downtime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D6E6EE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D6E6EE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D6E6EE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D6E6EE"/>
                </a:solidFill>
                <a:latin typeface="Consolas"/>
                <a:ea typeface="Consolas"/>
                <a:cs typeface="Consolas"/>
                <a:sym typeface="Consolas"/>
              </a:rPr>
              <a:t>readinessProbe: { httpGet: /health }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D6E6EE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D6E6EE"/>
                </a:solidFill>
                <a:latin typeface="Consolas"/>
                <a:ea typeface="Consolas"/>
                <a:cs typeface="Consolas"/>
                <a:sym typeface="Consolas"/>
              </a:rPr>
              <a:t>livenessProbe:  { httpGet: /health }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D6E6EE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D6E6EE"/>
                </a:solidFill>
                <a:latin typeface="Consolas"/>
                <a:ea typeface="Consolas"/>
                <a:cs typeface="Consolas"/>
                <a:sym typeface="Consolas"/>
              </a:rPr>
              <a:t>replicas: 3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D6E6EE"/>
              </a:buClr>
              <a:buSzPts val="1050"/>
              <a:buFont typeface="Consolas"/>
              <a:buNone/>
            </a:pPr>
            <a:r>
              <a:rPr lang="en-US" sz="1050" b="0" i="0" u="none" strike="noStrike" cap="none">
                <a:solidFill>
                  <a:srgbClr val="D6E6EE"/>
                </a:solidFill>
                <a:latin typeface="Consolas"/>
                <a:ea typeface="Consolas"/>
                <a:cs typeface="Consolas"/>
                <a:sym typeface="Consolas"/>
              </a:rPr>
              <a:t>service: NodePort  30080 -&gt; 8080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5"/>
          <p:cNvSpPr txBox="1"/>
          <p:nvPr/>
        </p:nvSpPr>
        <p:spPr>
          <a:xfrm>
            <a:off x="548640" y="365760"/>
            <a:ext cx="110642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1F2937"/>
                </a:solidFill>
                <a:latin typeface="Cambria"/>
                <a:ea typeface="Cambria"/>
                <a:cs typeface="Cambria"/>
                <a:sym typeface="Cambria"/>
              </a:rPr>
              <a:t>Task 3 · Build the Images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1" name="Google Shape;161;p1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348871" y="1371600"/>
            <a:ext cx="3491210" cy="208483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5"/>
          <p:cNvSpPr/>
          <p:nvPr/>
        </p:nvSpPr>
        <p:spPr>
          <a:xfrm>
            <a:off x="4348871" y="1371600"/>
            <a:ext cx="3491210" cy="2084832"/>
          </a:xfrm>
          <a:prstGeom prst="rect">
            <a:avLst/>
          </a:prstGeom>
          <a:noFill/>
          <a:ln w="12700" cap="flat" cmpd="sng">
            <a:solidFill>
              <a:srgbClr val="B9C4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15"/>
          <p:cNvSpPr txBox="1"/>
          <p:nvPr/>
        </p:nvSpPr>
        <p:spPr>
          <a:xfrm>
            <a:off x="640080" y="3493008"/>
            <a:ext cx="1090879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673"/>
              </a:buClr>
              <a:buSzPts val="1050"/>
              <a:buFont typeface="Calibri"/>
              <a:buNone/>
            </a:pPr>
            <a:r>
              <a:rPr lang="en-US" sz="1050" b="0" i="1" u="none" strike="noStrike" cap="none">
                <a:solidFill>
                  <a:srgbClr val="5B6673"/>
                </a:solidFill>
                <a:latin typeface="Calibri"/>
                <a:ea typeface="Calibri"/>
                <a:cs typeface="Calibri"/>
                <a:sym typeface="Calibri"/>
              </a:rPr>
              <a:t>Build image v1.0 — multi-stage Docker build (runtime-only variant used on the VM).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4" name="Google Shape;164;p1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30806" y="3977640"/>
            <a:ext cx="4327340" cy="2084832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5"/>
          <p:cNvSpPr/>
          <p:nvPr/>
        </p:nvSpPr>
        <p:spPr>
          <a:xfrm>
            <a:off x="3930806" y="3977640"/>
            <a:ext cx="4327340" cy="2084832"/>
          </a:xfrm>
          <a:prstGeom prst="rect">
            <a:avLst/>
          </a:prstGeom>
          <a:noFill/>
          <a:ln w="12700" cap="flat" cmpd="sng">
            <a:solidFill>
              <a:srgbClr val="B9C4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15"/>
          <p:cNvSpPr txBox="1"/>
          <p:nvPr/>
        </p:nvSpPr>
        <p:spPr>
          <a:xfrm>
            <a:off x="640080" y="6099048"/>
            <a:ext cx="1090879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673"/>
              </a:buClr>
              <a:buSzPts val="1050"/>
              <a:buFont typeface="Calibri"/>
              <a:buNone/>
            </a:pPr>
            <a:r>
              <a:rPr lang="en-US" sz="1050" b="0" i="1" u="none" strike="noStrike" cap="none">
                <a:solidFill>
                  <a:srgbClr val="5B6673"/>
                </a:solidFill>
                <a:latin typeface="Calibri"/>
                <a:ea typeface="Calibri"/>
                <a:cs typeface="Calibri"/>
                <a:sym typeface="Calibri"/>
              </a:rPr>
              <a:t>Build v2.0 (only APP_VERSION differs) and load both tags into the cluster's containerd.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6"/>
          <p:cNvSpPr txBox="1"/>
          <p:nvPr/>
        </p:nvSpPr>
        <p:spPr>
          <a:xfrm>
            <a:off x="548640" y="365760"/>
            <a:ext cx="110642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1F2937"/>
                </a:solidFill>
                <a:latin typeface="Cambria"/>
                <a:ea typeface="Cambria"/>
                <a:cs typeface="Cambria"/>
                <a:sym typeface="Cambria"/>
              </a:rPr>
              <a:t>Task 3 · Deploy &amp; Access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3" name="Google Shape;173;p1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51772" y="1371600"/>
            <a:ext cx="5685408" cy="2084832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6"/>
          <p:cNvSpPr/>
          <p:nvPr/>
        </p:nvSpPr>
        <p:spPr>
          <a:xfrm>
            <a:off x="3251772" y="1371600"/>
            <a:ext cx="5685408" cy="2084832"/>
          </a:xfrm>
          <a:prstGeom prst="rect">
            <a:avLst/>
          </a:prstGeom>
          <a:noFill/>
          <a:ln w="12700" cap="flat" cmpd="sng">
            <a:solidFill>
              <a:srgbClr val="B9C4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16"/>
          <p:cNvSpPr txBox="1"/>
          <p:nvPr/>
        </p:nvSpPr>
        <p:spPr>
          <a:xfrm>
            <a:off x="640080" y="3493008"/>
            <a:ext cx="1090879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673"/>
              </a:buClr>
              <a:buSzPts val="1050"/>
              <a:buFont typeface="Calibri"/>
              <a:buNone/>
            </a:pPr>
            <a:r>
              <a:rPr lang="en-US" sz="1050" b="0" i="1" u="none" strike="noStrike" cap="none">
                <a:solidFill>
                  <a:srgbClr val="5B6673"/>
                </a:solidFill>
                <a:latin typeface="Calibri"/>
                <a:ea typeface="Calibri"/>
                <a:cs typeface="Calibri"/>
                <a:sym typeface="Calibri"/>
              </a:rPr>
              <a:t>kubectl apply -f k8s/ — Deployment + Service created; rollout succeeds; all 3 pods 1/1 Running.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6" name="Google Shape;176;p1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63315" y="3977640"/>
            <a:ext cx="8062322" cy="2084832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6"/>
          <p:cNvSpPr/>
          <p:nvPr/>
        </p:nvSpPr>
        <p:spPr>
          <a:xfrm>
            <a:off x="2063315" y="3977640"/>
            <a:ext cx="8062322" cy="2084832"/>
          </a:xfrm>
          <a:prstGeom prst="rect">
            <a:avLst/>
          </a:prstGeom>
          <a:noFill/>
          <a:ln w="12700" cap="flat" cmpd="sng">
            <a:solidFill>
              <a:srgbClr val="B9C4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16"/>
          <p:cNvSpPr txBox="1"/>
          <p:nvPr/>
        </p:nvSpPr>
        <p:spPr>
          <a:xfrm>
            <a:off x="640080" y="6099048"/>
            <a:ext cx="1090879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673"/>
              </a:buClr>
              <a:buSzPts val="1050"/>
              <a:buFont typeface="Calibri"/>
              <a:buNone/>
            </a:pPr>
            <a:r>
              <a:rPr lang="en-US" sz="1050" b="0" i="1" u="none" strike="noStrike" cap="none">
                <a:solidFill>
                  <a:srgbClr val="5B6673"/>
                </a:solidFill>
                <a:latin typeface="Calibri"/>
                <a:ea typeface="Calibri"/>
                <a:cs typeface="Calibri"/>
                <a:sym typeface="Calibri"/>
              </a:rPr>
              <a:t>curl via NodePort :30080 — requests load-balanced across pods; /health OK; /metrics exposed.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7"/>
          <p:cNvSpPr txBox="1"/>
          <p:nvPr/>
        </p:nvSpPr>
        <p:spPr>
          <a:xfrm>
            <a:off x="548640" y="365760"/>
            <a:ext cx="110642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1F2937"/>
                </a:solidFill>
                <a:latin typeface="Cambria"/>
                <a:ea typeface="Cambria"/>
                <a:cs typeface="Cambria"/>
                <a:sym typeface="Cambria"/>
              </a:rPr>
              <a:t>Task 3 · Rolling Update  (1.0 → 2.0)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5" name="Google Shape;185;p1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63306" y="1371600"/>
            <a:ext cx="5062341" cy="2084832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7"/>
          <p:cNvSpPr/>
          <p:nvPr/>
        </p:nvSpPr>
        <p:spPr>
          <a:xfrm>
            <a:off x="3563306" y="1371600"/>
            <a:ext cx="5062341" cy="2084832"/>
          </a:xfrm>
          <a:prstGeom prst="rect">
            <a:avLst/>
          </a:prstGeom>
          <a:noFill/>
          <a:ln w="12700" cap="flat" cmpd="sng">
            <a:solidFill>
              <a:srgbClr val="B9C4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17"/>
          <p:cNvSpPr txBox="1"/>
          <p:nvPr/>
        </p:nvSpPr>
        <p:spPr>
          <a:xfrm>
            <a:off x="640080" y="3493008"/>
            <a:ext cx="1090879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673"/>
              </a:buClr>
              <a:buSzPts val="1050"/>
              <a:buFont typeface="Calibri"/>
              <a:buNone/>
            </a:pPr>
            <a:r>
              <a:rPr lang="en-US" sz="1050" b="0" i="1" u="none" strike="noStrike" cap="none">
                <a:solidFill>
                  <a:srgbClr val="5B6673"/>
                </a:solidFill>
                <a:latin typeface="Calibri"/>
                <a:ea typeface="Calibri"/>
                <a:cs typeface="Calibri"/>
                <a:sym typeface="Calibri"/>
              </a:rPr>
              <a:t>kubectl set image → staged rollout (new pods up, old terminating) finishes with zero downtime.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8" name="Google Shape;188;p1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45637" y="3977640"/>
            <a:ext cx="9297678" cy="2084832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7"/>
          <p:cNvSpPr/>
          <p:nvPr/>
        </p:nvSpPr>
        <p:spPr>
          <a:xfrm>
            <a:off x="1445637" y="3977640"/>
            <a:ext cx="9297678" cy="2084832"/>
          </a:xfrm>
          <a:prstGeom prst="rect">
            <a:avLst/>
          </a:prstGeom>
          <a:noFill/>
          <a:ln w="12700" cap="flat" cmpd="sng">
            <a:solidFill>
              <a:srgbClr val="B9C4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17"/>
          <p:cNvSpPr txBox="1"/>
          <p:nvPr/>
        </p:nvSpPr>
        <p:spPr>
          <a:xfrm>
            <a:off x="640080" y="6099048"/>
            <a:ext cx="1090879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673"/>
              </a:buClr>
              <a:buSzPts val="1050"/>
              <a:buFont typeface="Calibri"/>
              <a:buNone/>
            </a:pPr>
            <a:r>
              <a:rPr lang="en-US" sz="1050" b="0" i="1" u="none" strike="noStrike" cap="none">
                <a:solidFill>
                  <a:srgbClr val="5B6673"/>
                </a:solidFill>
                <a:latin typeface="Calibri"/>
                <a:ea typeface="Calibri"/>
                <a:cs typeface="Calibri"/>
                <a:sym typeface="Calibri"/>
              </a:rPr>
              <a:t>All serving pods now on the new ReplicaSet; the service responds with version 2.0.0.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8"/>
          <p:cNvSpPr txBox="1"/>
          <p:nvPr/>
        </p:nvSpPr>
        <p:spPr>
          <a:xfrm>
            <a:off x="548640" y="365760"/>
            <a:ext cx="110642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1F2937"/>
                </a:solidFill>
                <a:latin typeface="Cambria"/>
                <a:ea typeface="Cambria"/>
                <a:cs typeface="Cambria"/>
                <a:sym typeface="Cambria"/>
              </a:rPr>
              <a:t>Task 3 · Rollback  (2.0 → 1.0)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7" name="Google Shape;197;p1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89479" y="1371600"/>
            <a:ext cx="4009994" cy="2084832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8"/>
          <p:cNvSpPr/>
          <p:nvPr/>
        </p:nvSpPr>
        <p:spPr>
          <a:xfrm>
            <a:off x="4089479" y="1371600"/>
            <a:ext cx="4009994" cy="2084832"/>
          </a:xfrm>
          <a:prstGeom prst="rect">
            <a:avLst/>
          </a:prstGeom>
          <a:noFill/>
          <a:ln w="12700" cap="flat" cmpd="sng">
            <a:solidFill>
              <a:srgbClr val="B9C4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8"/>
          <p:cNvSpPr txBox="1"/>
          <p:nvPr/>
        </p:nvSpPr>
        <p:spPr>
          <a:xfrm>
            <a:off x="640080" y="3493008"/>
            <a:ext cx="1090879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673"/>
              </a:buClr>
              <a:buSzPts val="1050"/>
              <a:buFont typeface="Calibri"/>
              <a:buNone/>
            </a:pPr>
            <a:r>
              <a:rPr lang="en-US" sz="1050" b="0" i="1" u="none" strike="noStrike" cap="none">
                <a:solidFill>
                  <a:srgbClr val="5B6673"/>
                </a:solidFill>
                <a:latin typeface="Calibri"/>
                <a:ea typeface="Calibri"/>
                <a:cs typeface="Calibri"/>
                <a:sym typeface="Calibri"/>
              </a:rPr>
              <a:t>kubectl rollout history + undo — returns the Deployment to the previous revision.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0" name="Google Shape;200;p18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0080" y="3977640"/>
            <a:ext cx="10908792" cy="1696485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8"/>
          <p:cNvSpPr/>
          <p:nvPr/>
        </p:nvSpPr>
        <p:spPr>
          <a:xfrm>
            <a:off x="640080" y="3977640"/>
            <a:ext cx="10908792" cy="1696485"/>
          </a:xfrm>
          <a:prstGeom prst="rect">
            <a:avLst/>
          </a:prstGeom>
          <a:noFill/>
          <a:ln w="12700" cap="flat" cmpd="sng">
            <a:solidFill>
              <a:srgbClr val="B9C4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18"/>
          <p:cNvSpPr txBox="1"/>
          <p:nvPr/>
        </p:nvSpPr>
        <p:spPr>
          <a:xfrm>
            <a:off x="640080" y="5710701"/>
            <a:ext cx="1090879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673"/>
              </a:buClr>
              <a:buSzPts val="1050"/>
              <a:buFont typeface="Calibri"/>
              <a:buNone/>
            </a:pPr>
            <a:r>
              <a:rPr lang="en-US" sz="1050" b="0" i="1" u="none" strike="noStrike" cap="none">
                <a:solidFill>
                  <a:srgbClr val="5B6673"/>
                </a:solidFill>
                <a:latin typeface="Calibri"/>
                <a:ea typeface="Calibri"/>
                <a:cs typeface="Calibri"/>
                <a:sym typeface="Calibri"/>
              </a:rPr>
              <a:t>Rollback verified — v2 ReplicaSet scaled to 0, v1 back at 3/3; the service answers 1.0.0 again.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9"/>
          <p:cNvSpPr txBox="1"/>
          <p:nvPr/>
        </p:nvSpPr>
        <p:spPr>
          <a:xfrm>
            <a:off x="548640" y="365760"/>
            <a:ext cx="110642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1F2937"/>
                </a:solidFill>
                <a:latin typeface="Cambria"/>
                <a:ea typeface="Cambria"/>
                <a:cs typeface="Cambria"/>
                <a:sym typeface="Cambria"/>
              </a:rPr>
              <a:t>Task 4 · Monitoring &amp; Logging — Prometheus + Grafana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9"/>
          <p:cNvSpPr txBox="1"/>
          <p:nvPr/>
        </p:nvSpPr>
        <p:spPr>
          <a:xfrm>
            <a:off x="566928" y="1024128"/>
            <a:ext cx="110642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673"/>
              </a:buClr>
              <a:buSzPts val="1350"/>
              <a:buFont typeface="Calibri"/>
              <a:buNone/>
            </a:pPr>
            <a:r>
              <a:rPr lang="en-US" sz="1350" b="0" i="1" u="none" strike="noStrike" cap="none">
                <a:solidFill>
                  <a:srgbClr val="5B6673"/>
                </a:solidFill>
                <a:latin typeface="Calibri"/>
                <a:ea typeface="Calibri"/>
                <a:cs typeface="Calibri"/>
                <a:sym typeface="Calibri"/>
              </a:rPr>
              <a:t>kube-prometheus-stack scrapes every pod; the service emits histogram + per-status-code metrics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9"/>
          <p:cNvSpPr txBox="1"/>
          <p:nvPr/>
        </p:nvSpPr>
        <p:spPr>
          <a:xfrm>
            <a:off x="640080" y="1572768"/>
            <a:ext cx="10908792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Prometheus + Grafana via the kube-prometheus-stack Helm chart (NodePorts 30900 / 30300)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 ServiceMonitor scrapes all 3 hello-service pods every 5 s; the host node exporter is an extra target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rgbClr val="1F2937"/>
              </a:buClr>
              <a:buSzPts val="1300"/>
              <a:buFont typeface="Calibri"/>
              <a:buChar char="•"/>
            </a:pPr>
            <a:r>
              <a:rPr lang="en-US" sz="1300" b="0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Dashboard panels: uptime, total requests, error rate %, request rate, and latency p50 / p95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1" name="Google Shape;211;p1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74757" y="2971800"/>
            <a:ext cx="9239439" cy="237744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9"/>
          <p:cNvSpPr/>
          <p:nvPr/>
        </p:nvSpPr>
        <p:spPr>
          <a:xfrm>
            <a:off x="1474757" y="2971800"/>
            <a:ext cx="9239439" cy="2377440"/>
          </a:xfrm>
          <a:prstGeom prst="rect">
            <a:avLst/>
          </a:prstGeom>
          <a:noFill/>
          <a:ln w="12700" cap="flat" cmpd="sng">
            <a:solidFill>
              <a:srgbClr val="B9C4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19"/>
          <p:cNvSpPr txBox="1"/>
          <p:nvPr/>
        </p:nvSpPr>
        <p:spPr>
          <a:xfrm>
            <a:off x="640080" y="5404104"/>
            <a:ext cx="1090879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673"/>
              </a:buClr>
              <a:buSzPts val="1050"/>
              <a:buFont typeface="Calibri"/>
              <a:buNone/>
            </a:pPr>
            <a:r>
              <a:rPr lang="en-US" sz="1050" b="0" i="1" u="none" strike="noStrike" cap="none">
                <a:solidFill>
                  <a:srgbClr val="5B6673"/>
                </a:solidFill>
                <a:latin typeface="Calibri"/>
                <a:ea typeface="Calibri"/>
                <a:cs typeface="Calibri"/>
                <a:sym typeface="Calibri"/>
              </a:rPr>
              <a:t>kube-prometheus-stack pods Running; 10 Prometheus targets healthy, including the 3 hello-service pods and the node exporter.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0"/>
          <p:cNvSpPr txBox="1"/>
          <p:nvPr/>
        </p:nvSpPr>
        <p:spPr>
          <a:xfrm>
            <a:off x="548640" y="365760"/>
            <a:ext cx="110642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1F2937"/>
                </a:solidFill>
                <a:latin typeface="Cambria"/>
                <a:ea typeface="Cambria"/>
                <a:cs typeface="Cambria"/>
                <a:sym typeface="Cambria"/>
              </a:rPr>
              <a:t>Task 4 · Grafana Dashboard (live data)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0" name="Google Shape;220;p2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28547" y="1417320"/>
            <a:ext cx="6131859" cy="434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0"/>
          <p:cNvSpPr/>
          <p:nvPr/>
        </p:nvSpPr>
        <p:spPr>
          <a:xfrm>
            <a:off x="3028547" y="1417320"/>
            <a:ext cx="6131859" cy="4343400"/>
          </a:xfrm>
          <a:prstGeom prst="rect">
            <a:avLst/>
          </a:prstGeom>
          <a:noFill/>
          <a:ln w="12700" cap="flat" cmpd="sng">
            <a:solidFill>
              <a:srgbClr val="B9C4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20"/>
          <p:cNvSpPr txBox="1"/>
          <p:nvPr/>
        </p:nvSpPr>
        <p:spPr>
          <a:xfrm>
            <a:off x="640080" y="5815584"/>
            <a:ext cx="1090879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673"/>
              </a:buClr>
              <a:buSzPts val="1050"/>
              <a:buFont typeface="Calibri"/>
              <a:buNone/>
            </a:pPr>
            <a:r>
              <a:rPr lang="en-US" sz="1050" b="0" i="1" u="none" strike="noStrike" cap="none">
                <a:solidFill>
                  <a:srgbClr val="5B6673"/>
                </a:solidFill>
                <a:latin typeface="Calibri"/>
                <a:ea typeface="Calibri"/>
                <a:cs typeface="Calibri"/>
                <a:sym typeface="Calibri"/>
              </a:rPr>
              <a:t>Uptime 3/3 targets up · 282 requests · error rate ~7% (from deliberate 404s in the load test) · latency p95 ≈ 4.7 ms — rendered 1:1 from the Prometheus API.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1"/>
          <p:cNvSpPr txBox="1"/>
          <p:nvPr/>
        </p:nvSpPr>
        <p:spPr>
          <a:xfrm>
            <a:off x="548640" y="365760"/>
            <a:ext cx="110642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1F2937"/>
                </a:solidFill>
                <a:latin typeface="Cambria"/>
                <a:ea typeface="Cambria"/>
                <a:cs typeface="Cambria"/>
                <a:sym typeface="Cambria"/>
              </a:rPr>
              <a:t>Task 5 · System Architecture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1"/>
          <p:cNvSpPr txBox="1"/>
          <p:nvPr/>
        </p:nvSpPr>
        <p:spPr>
          <a:xfrm>
            <a:off x="566928" y="1024128"/>
            <a:ext cx="1106424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673"/>
              </a:buClr>
              <a:buSzPts val="1350"/>
              <a:buFont typeface="Calibri"/>
              <a:buNone/>
            </a:pPr>
            <a:r>
              <a:rPr lang="en-US" sz="1350" b="0" i="1" u="none" strike="noStrike" cap="none">
                <a:solidFill>
                  <a:srgbClr val="5B6673"/>
                </a:solidFill>
                <a:latin typeface="Calibri"/>
                <a:ea typeface="Calibri"/>
                <a:cs typeface="Calibri"/>
                <a:sym typeface="Calibri"/>
              </a:rPr>
              <a:t>Each DevOps task is one layer of the same running system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0" name="Google Shape;230;p2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79514" y="1572768"/>
            <a:ext cx="7629924" cy="425196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1"/>
          <p:cNvSpPr/>
          <p:nvPr/>
        </p:nvSpPr>
        <p:spPr>
          <a:xfrm>
            <a:off x="2279514" y="1572768"/>
            <a:ext cx="7629924" cy="4251960"/>
          </a:xfrm>
          <a:prstGeom prst="rect">
            <a:avLst/>
          </a:prstGeom>
          <a:noFill/>
          <a:ln w="12700" cap="flat" cmpd="sng">
            <a:solidFill>
              <a:srgbClr val="B9C4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21"/>
          <p:cNvSpPr txBox="1"/>
          <p:nvPr/>
        </p:nvSpPr>
        <p:spPr>
          <a:xfrm>
            <a:off x="640080" y="5879592"/>
            <a:ext cx="10908792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B6673"/>
              </a:buClr>
              <a:buSzPts val="1050"/>
              <a:buFont typeface="Calibri"/>
              <a:buNone/>
            </a:pPr>
            <a:r>
              <a:rPr lang="en-US" sz="1050" b="0" i="1" u="none" strike="noStrike" cap="none">
                <a:solidFill>
                  <a:srgbClr val="5B6673"/>
                </a:solidFill>
                <a:latin typeface="Calibri"/>
                <a:ea typeface="Calibri"/>
                <a:cs typeface="Calibri"/>
                <a:sym typeface="Calibri"/>
              </a:rPr>
              <a:t>GitHub Actions deploys the image into a k3s cluster on an Ansible-provisioned VM; Prometheus + Grafana observe the pods; users reach the service via NodePort.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2"/>
          <p:cNvSpPr txBox="1"/>
          <p:nvPr/>
        </p:nvSpPr>
        <p:spPr>
          <a:xfrm>
            <a:off x="548640" y="365760"/>
            <a:ext cx="110642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1F2937"/>
                </a:solidFill>
                <a:latin typeface="Cambria"/>
                <a:ea typeface="Cambria"/>
                <a:cs typeface="Cambria"/>
                <a:sym typeface="Cambria"/>
              </a:rPr>
              <a:t>Task 5 · Challenges We Hit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2"/>
          <p:cNvSpPr/>
          <p:nvPr/>
        </p:nvSpPr>
        <p:spPr>
          <a:xfrm>
            <a:off x="731520" y="1490472"/>
            <a:ext cx="530352" cy="530352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22"/>
          <p:cNvSpPr txBox="1"/>
          <p:nvPr/>
        </p:nvSpPr>
        <p:spPr>
          <a:xfrm>
            <a:off x="731520" y="1490472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mbria"/>
              <a:buNone/>
            </a:pPr>
            <a:r>
              <a:rPr lang="en-US" sz="19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2"/>
          <p:cNvSpPr txBox="1"/>
          <p:nvPr/>
        </p:nvSpPr>
        <p:spPr>
          <a:xfrm>
            <a:off x="1463040" y="1417320"/>
            <a:ext cx="100584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50"/>
              <a:buFont typeface="Calibri"/>
              <a:buNone/>
            </a:pPr>
            <a:r>
              <a:rPr lang="en-US" sz="1550" b="1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Tiny disk on the VM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2"/>
          <p:cNvSpPr txBox="1"/>
          <p:nvPr/>
        </p:nvSpPr>
        <p:spPr>
          <a:xfrm>
            <a:off x="1463040" y="1764792"/>
            <a:ext cx="10149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673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5B6673"/>
                </a:solidFill>
                <a:latin typeface="Calibri"/>
                <a:ea typeface="Calibri"/>
                <a:cs typeface="Calibri"/>
                <a:sym typeface="Calibri"/>
              </a:rPr>
              <a:t>/var was too small for a normal image build — built a runtime-only image and loaded it with docker save | k3s ctr images import.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2"/>
          <p:cNvSpPr/>
          <p:nvPr/>
        </p:nvSpPr>
        <p:spPr>
          <a:xfrm>
            <a:off x="731520" y="2441448"/>
            <a:ext cx="530352" cy="530352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22"/>
          <p:cNvSpPr txBox="1"/>
          <p:nvPr/>
        </p:nvSpPr>
        <p:spPr>
          <a:xfrm>
            <a:off x="731520" y="2441448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mbria"/>
              <a:buNone/>
            </a:pPr>
            <a:r>
              <a:rPr lang="en-US" sz="19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2"/>
          <p:cNvSpPr txBox="1"/>
          <p:nvPr/>
        </p:nvSpPr>
        <p:spPr>
          <a:xfrm>
            <a:off x="1463040" y="2368296"/>
            <a:ext cx="100584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50"/>
              <a:buFont typeface="Calibri"/>
              <a:buNone/>
            </a:pPr>
            <a:r>
              <a:rPr lang="en-US" sz="1550" b="1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Genuine zero-downtime updates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2"/>
          <p:cNvSpPr txBox="1"/>
          <p:nvPr/>
        </p:nvSpPr>
        <p:spPr>
          <a:xfrm>
            <a:off x="1463040" y="2715768"/>
            <a:ext cx="10149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673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5B6673"/>
                </a:solidFill>
                <a:latin typeface="Calibri"/>
                <a:ea typeface="Calibri"/>
                <a:cs typeface="Calibri"/>
                <a:sym typeface="Calibri"/>
              </a:rPr>
              <a:t>Needed maxUnavailable: 0 + a readiness probe so a new pod only takes traffic after /health passes.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2"/>
          <p:cNvSpPr/>
          <p:nvPr/>
        </p:nvSpPr>
        <p:spPr>
          <a:xfrm>
            <a:off x="731520" y="3392424"/>
            <a:ext cx="530352" cy="530352"/>
          </a:xfrm>
          <a:prstGeom prst="ellipse">
            <a:avLst/>
          </a:prstGeom>
          <a:solidFill>
            <a:srgbClr val="E08A1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22"/>
          <p:cNvSpPr txBox="1"/>
          <p:nvPr/>
        </p:nvSpPr>
        <p:spPr>
          <a:xfrm>
            <a:off x="731520" y="3392424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mbria"/>
              <a:buNone/>
            </a:pPr>
            <a:r>
              <a:rPr lang="en-US" sz="19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2"/>
          <p:cNvSpPr txBox="1"/>
          <p:nvPr/>
        </p:nvSpPr>
        <p:spPr>
          <a:xfrm>
            <a:off x="1463040" y="3319272"/>
            <a:ext cx="100584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50"/>
              <a:buFont typeface="Calibri"/>
              <a:buNone/>
            </a:pPr>
            <a:r>
              <a:rPr lang="en-US" sz="1550" b="1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Ansible idempotency &amp; secrets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2"/>
          <p:cNvSpPr txBox="1"/>
          <p:nvPr/>
        </p:nvSpPr>
        <p:spPr>
          <a:xfrm>
            <a:off x="1463040" y="3666744"/>
            <a:ext cx="10149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673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5B6673"/>
                </a:solidFill>
                <a:latin typeface="Calibri"/>
                <a:ea typeface="Calibri"/>
                <a:cs typeface="Calibri"/>
                <a:sym typeface="Calibri"/>
              </a:rPr>
              <a:t>Getting a clean changed=0 on re-runs, and keeping the become password out of the repo (ansible-vault).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2"/>
          <p:cNvSpPr/>
          <p:nvPr/>
        </p:nvSpPr>
        <p:spPr>
          <a:xfrm>
            <a:off x="731520" y="4343400"/>
            <a:ext cx="530352" cy="530352"/>
          </a:xfrm>
          <a:prstGeom prst="ellipse">
            <a:avLst/>
          </a:prstGeom>
          <a:solidFill>
            <a:srgbClr val="6D28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22"/>
          <p:cNvSpPr txBox="1"/>
          <p:nvPr/>
        </p:nvSpPr>
        <p:spPr>
          <a:xfrm>
            <a:off x="731520" y="4343400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mbria"/>
              <a:buNone/>
            </a:pPr>
            <a:r>
              <a:rPr lang="en-US" sz="19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2"/>
          <p:cNvSpPr txBox="1"/>
          <p:nvPr/>
        </p:nvSpPr>
        <p:spPr>
          <a:xfrm>
            <a:off x="1463040" y="4270248"/>
            <a:ext cx="100584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50"/>
              <a:buFont typeface="Calibri"/>
              <a:buNone/>
            </a:pPr>
            <a:r>
              <a:rPr lang="en-US" sz="1550" b="1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Dashboards need real metrics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2"/>
          <p:cNvSpPr txBox="1"/>
          <p:nvPr/>
        </p:nvSpPr>
        <p:spPr>
          <a:xfrm>
            <a:off x="1463040" y="4617720"/>
            <a:ext cx="10149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673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5B6673"/>
                </a:solidFill>
                <a:latin typeface="Calibri"/>
                <a:ea typeface="Calibri"/>
                <a:cs typeface="Calibri"/>
                <a:sym typeface="Calibri"/>
              </a:rPr>
              <a:t>Prometheus shows only what the app emits — upgraded the service to expose a latency histogram + status counters.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2"/>
          <p:cNvSpPr/>
          <p:nvPr/>
        </p:nvSpPr>
        <p:spPr>
          <a:xfrm>
            <a:off x="731520" y="5294376"/>
            <a:ext cx="530352" cy="530352"/>
          </a:xfrm>
          <a:prstGeom prst="ellipse">
            <a:avLst/>
          </a:prstGeom>
          <a:solidFill>
            <a:srgbClr val="1C729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22"/>
          <p:cNvSpPr txBox="1"/>
          <p:nvPr/>
        </p:nvSpPr>
        <p:spPr>
          <a:xfrm>
            <a:off x="731520" y="5294376"/>
            <a:ext cx="530352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mbria"/>
              <a:buNone/>
            </a:pPr>
            <a:r>
              <a:rPr lang="en-US" sz="19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5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2"/>
          <p:cNvSpPr txBox="1"/>
          <p:nvPr/>
        </p:nvSpPr>
        <p:spPr>
          <a:xfrm>
            <a:off x="1463040" y="5221224"/>
            <a:ext cx="1005840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2937"/>
              </a:buClr>
              <a:buSzPts val="1550"/>
              <a:buFont typeface="Calibri"/>
              <a:buNone/>
            </a:pPr>
            <a:r>
              <a:rPr lang="en-US" sz="1550" b="1" i="0" u="none" strike="noStrike" cap="none">
                <a:solidFill>
                  <a:srgbClr val="1F2937"/>
                </a:solidFill>
                <a:latin typeface="Calibri"/>
                <a:ea typeface="Calibri"/>
                <a:cs typeface="Calibri"/>
                <a:sym typeface="Calibri"/>
              </a:rPr>
              <a:t>Deploying on-prem from GitHub</a:t>
            </a:r>
            <a:endParaRPr sz="15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2"/>
          <p:cNvSpPr txBox="1"/>
          <p:nvPr/>
        </p:nvSpPr>
        <p:spPr>
          <a:xfrm>
            <a:off x="1463040" y="5568696"/>
            <a:ext cx="10149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5B6673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5B6673"/>
                </a:solidFill>
                <a:latin typeface="Calibri"/>
                <a:ea typeface="Calibri"/>
                <a:cs typeface="Calibri"/>
                <a:sym typeface="Calibri"/>
              </a:rPr>
              <a:t>Hosted runners can't reach 192.168.x — deployment runs on a self-hosted runner on the k3s VM.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3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Task 5 · Lessons Learned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5" name="Google Shape;265;p23"/>
          <p:cNvCxnSpPr/>
          <p:nvPr/>
        </p:nvCxnSpPr>
        <p:spPr>
          <a:xfrm>
            <a:off x="594360" y="1188720"/>
            <a:ext cx="2560320" cy="0"/>
          </a:xfrm>
          <a:prstGeom prst="straightConnector1">
            <a:avLst/>
          </a:prstGeom>
          <a:noFill/>
          <a:ln w="25400" cap="flat" cmpd="sng">
            <a:solidFill>
              <a:srgbClr val="2EC4B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6" name="Google Shape;266;p23"/>
          <p:cNvSpPr/>
          <p:nvPr/>
        </p:nvSpPr>
        <p:spPr>
          <a:xfrm>
            <a:off x="594360" y="1627632"/>
            <a:ext cx="237744" cy="237744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23"/>
          <p:cNvSpPr txBox="1"/>
          <p:nvPr/>
        </p:nvSpPr>
        <p:spPr>
          <a:xfrm>
            <a:off x="978408" y="1536192"/>
            <a:ext cx="50292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Declarative, idempotent IaC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3"/>
          <p:cNvSpPr txBox="1"/>
          <p:nvPr/>
        </p:nvSpPr>
        <p:spPr>
          <a:xfrm>
            <a:off x="978408" y="1911096"/>
            <a:ext cx="50749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7D2E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C7D2E0"/>
                </a:solidFill>
                <a:latin typeface="Calibri"/>
                <a:ea typeface="Calibri"/>
                <a:cs typeface="Calibri"/>
                <a:sym typeface="Calibri"/>
              </a:rPr>
              <a:t>Ansible + K8s manifests make the whole environment reproducible and safe to re-apply.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3"/>
          <p:cNvSpPr/>
          <p:nvPr/>
        </p:nvSpPr>
        <p:spPr>
          <a:xfrm>
            <a:off x="6309360" y="1627632"/>
            <a:ext cx="237744" cy="237744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23"/>
          <p:cNvSpPr txBox="1"/>
          <p:nvPr/>
        </p:nvSpPr>
        <p:spPr>
          <a:xfrm>
            <a:off x="6693408" y="1536192"/>
            <a:ext cx="50292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Zero-downtime is a design choice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3"/>
          <p:cNvSpPr txBox="1"/>
          <p:nvPr/>
        </p:nvSpPr>
        <p:spPr>
          <a:xfrm>
            <a:off x="6693408" y="1911096"/>
            <a:ext cx="50749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7D2E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C7D2E0"/>
                </a:solidFill>
                <a:latin typeface="Calibri"/>
                <a:ea typeface="Calibri"/>
                <a:cs typeface="Calibri"/>
                <a:sym typeface="Calibri"/>
              </a:rPr>
              <a:t>Readiness probes + RollingUpdate give it; separate ReplicaSets make rollback instant.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3"/>
          <p:cNvSpPr/>
          <p:nvPr/>
        </p:nvSpPr>
        <p:spPr>
          <a:xfrm>
            <a:off x="594360" y="3090672"/>
            <a:ext cx="237744" cy="237744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23"/>
          <p:cNvSpPr txBox="1"/>
          <p:nvPr/>
        </p:nvSpPr>
        <p:spPr>
          <a:xfrm>
            <a:off x="978408" y="2999232"/>
            <a:ext cx="50292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You can't monitor what you don't emit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3"/>
          <p:cNvSpPr txBox="1"/>
          <p:nvPr/>
        </p:nvSpPr>
        <p:spPr>
          <a:xfrm>
            <a:off x="978408" y="3374136"/>
            <a:ext cx="50749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7D2E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C7D2E0"/>
                </a:solidFill>
                <a:latin typeface="Calibri"/>
                <a:ea typeface="Calibri"/>
                <a:cs typeface="Calibri"/>
                <a:sym typeface="Calibri"/>
              </a:rPr>
              <a:t>Observability must be built into the service, not bolted on afterwards.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3"/>
          <p:cNvSpPr/>
          <p:nvPr/>
        </p:nvSpPr>
        <p:spPr>
          <a:xfrm>
            <a:off x="6309360" y="3090672"/>
            <a:ext cx="237744" cy="237744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23"/>
          <p:cNvSpPr txBox="1"/>
          <p:nvPr/>
        </p:nvSpPr>
        <p:spPr>
          <a:xfrm>
            <a:off x="6693408" y="2999232"/>
            <a:ext cx="50292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Immutable, SHA-tagged images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3"/>
          <p:cNvSpPr txBox="1"/>
          <p:nvPr/>
        </p:nvSpPr>
        <p:spPr>
          <a:xfrm>
            <a:off x="6693408" y="3374136"/>
            <a:ext cx="50749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7D2E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C7D2E0"/>
                </a:solidFill>
                <a:latin typeface="Calibri"/>
                <a:ea typeface="Calibri"/>
                <a:cs typeface="Calibri"/>
                <a:sym typeface="Calibri"/>
              </a:rPr>
              <a:t>Every deployment maps to an exact commit, so rollbacks are deterministic.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3"/>
          <p:cNvSpPr/>
          <p:nvPr/>
        </p:nvSpPr>
        <p:spPr>
          <a:xfrm>
            <a:off x="594360" y="4553712"/>
            <a:ext cx="237744" cy="237744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23"/>
          <p:cNvSpPr txBox="1"/>
          <p:nvPr/>
        </p:nvSpPr>
        <p:spPr>
          <a:xfrm>
            <a:off x="978408" y="4462272"/>
            <a:ext cx="50292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Automate the whole path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3"/>
          <p:cNvSpPr txBox="1"/>
          <p:nvPr/>
        </p:nvSpPr>
        <p:spPr>
          <a:xfrm>
            <a:off x="978408" y="4837176"/>
            <a:ext cx="50749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7D2E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C7D2E0"/>
                </a:solidFill>
                <a:latin typeface="Calibri"/>
                <a:ea typeface="Calibri"/>
                <a:cs typeface="Calibri"/>
                <a:sym typeface="Calibri"/>
              </a:rPr>
              <a:t>commit → build → deploy behind quality gates turns releases into routine events.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3"/>
          <p:cNvSpPr/>
          <p:nvPr/>
        </p:nvSpPr>
        <p:spPr>
          <a:xfrm>
            <a:off x="6309360" y="4553712"/>
            <a:ext cx="237744" cy="237744"/>
          </a:xfrm>
          <a:prstGeom prst="ellipse">
            <a:avLst/>
          </a:prstGeom>
          <a:solidFill>
            <a:srgbClr val="2EC4B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23"/>
          <p:cNvSpPr txBox="1"/>
          <p:nvPr/>
        </p:nvSpPr>
        <p:spPr>
          <a:xfrm>
            <a:off x="6693408" y="4462272"/>
            <a:ext cx="502920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Keep secrets out of code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3"/>
          <p:cNvSpPr txBox="1"/>
          <p:nvPr/>
        </p:nvSpPr>
        <p:spPr>
          <a:xfrm>
            <a:off x="6693408" y="4837176"/>
            <a:ext cx="50749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7D2E0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C7D2E0"/>
                </a:solidFill>
                <a:latin typeface="Calibri"/>
                <a:ea typeface="Calibri"/>
                <a:cs typeface="Calibri"/>
                <a:sym typeface="Calibri"/>
              </a:rPr>
              <a:t>GitHub Actions secrets, GITHUB_TOKEN and ansible-vault — never credentials in the repo.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3"/>
          <p:cNvSpPr txBox="1"/>
          <p:nvPr/>
        </p:nvSpPr>
        <p:spPr>
          <a:xfrm>
            <a:off x="594360" y="635508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EC4B6"/>
              </a:buClr>
              <a:buSzPts val="1300"/>
              <a:buFont typeface="Calibri"/>
              <a:buNone/>
            </a:pPr>
            <a:r>
              <a:rPr lang="en-US" sz="1300" b="0" i="1" u="none" strike="noStrike" cap="none">
                <a:solidFill>
                  <a:srgbClr val="2EC4B6"/>
                </a:solidFill>
                <a:latin typeface="Calibri"/>
                <a:ea typeface="Calibri"/>
                <a:cs typeface="Calibri"/>
                <a:sym typeface="Calibri"/>
              </a:rPr>
              <a:t>hello-service: from a code push to a monitored, zero-downtime production release — fully automated.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1650</Words>
  <Application>Microsoft Office PowerPoint</Application>
  <PresentationFormat>Widescreen</PresentationFormat>
  <Paragraphs>191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cp:lastModifiedBy>Harsh Trivedi</cp:lastModifiedBy>
  <cp:revision>1</cp:revision>
  <dcterms:created xsi:type="dcterms:W3CDTF">2026-10-01T18:33:35Z</dcterms:created>
  <dcterms:modified xsi:type="dcterms:W3CDTF">2026-10-05T14:52:03Z</dcterms:modified>
</cp:coreProperties>
</file>