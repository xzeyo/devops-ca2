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/>
              <a:t>DevOps CA-2 Case Study</a:t>
            </a:r>
          </a:p>
          <a:p>
            <a:pPr>
              <a:defRPr sz="2000" i="1"/>
            </a:pPr>
            <a:r>
              <a:t>From Monolith to Microservices — a DevOps transformation, built and run live</a:t>
            </a:r>
          </a:p>
          <a:p>
            <a:pPr>
              <a:defRPr sz="1200" i="0"/>
            </a:pPr>
          </a:p>
          <a:p>
            <a:pPr>
              <a:defRPr sz="1600" i="0"/>
            </a:pPr>
            <a:r>
              <a:t>Case studies: Q1 Netflix · Q2 Amazon      Tasks: 1–4 implementation evidence + reflection</a:t>
            </a:r>
          </a:p>
          <a:p>
            <a:pPr>
              <a:defRPr sz="800" i="0"/>
            </a:pPr>
          </a:p>
          <a:p>
            <a:pPr>
              <a:defRPr sz="1800" i="1"/>
            </a:pPr>
            <a:r>
              <a:t>Group members:</a:t>
            </a:r>
          </a:p>
          <a:p>
            <a:pPr>
              <a:defRPr sz="1600" i="0"/>
            </a:pPr>
            <a:r>
              <a:t>1.  ____________________  [PRN]        2.  ____________________  [PRN]</a:t>
            </a:r>
          </a:p>
          <a:p>
            <a:pPr>
              <a:defRPr sz="1600" i="0"/>
            </a:pPr>
            <a:r>
              <a:t>3.  ____________________  [PRN]        4.  ____________________  [PRN]</a:t>
            </a:r>
          </a:p>
          <a:p>
            <a:pPr>
              <a:defRPr sz="1600" i="0"/>
            </a:pPr>
            <a:r>
              <a:t>5.  ____________________  [PRN]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Case Study 1 – Amazon (Q2):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• Early 2000s: rapid growth overwhelmed Amazon's monolithic architecture</a:t>
            </a:r>
          </a:p>
          <a:p>
            <a:pPr lvl="1">
              <a:spcAft>
                <a:spcPts val="700"/>
              </a:spcAft>
              <a:defRPr sz="1400"/>
            </a:pPr>
            <a:r>
              <a:t>– Frequent outages and slow feature releases</a:t>
            </a:r>
          </a:p>
          <a:p>
            <a:pPr lvl="1">
              <a:spcAft>
                <a:spcPts val="700"/>
              </a:spcAft>
              <a:defRPr sz="1400"/>
            </a:pPr>
            <a:r>
              <a:t>– Directly impacted customer satisfaction and revenue</a:t>
            </a:r>
          </a:p>
          <a:p>
            <a:pPr>
              <a:spcAft>
                <a:spcPts val="700"/>
              </a:spcAft>
              <a:defRPr sz="1700"/>
            </a:pPr>
            <a:r>
              <a:t>• The Goal: adopt a microservices architecture supported by DevOps automation to enable rapid, reliable deployments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Amazon (Q2): Challenges of the monolith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• Challenge 1 — Frequent outages: downtime directly hit customer satisfaction and revenue</a:t>
            </a:r>
          </a:p>
          <a:p>
            <a:pPr>
              <a:spcAft>
                <a:spcPts val="700"/>
              </a:spcAft>
              <a:defRPr sz="1700"/>
            </a:pPr>
            <a:r>
              <a:t>• Challenge 2 — Slow, risky releases: the massive, tightly coupled codebase made every update slow and difficult to deploy</a:t>
            </a:r>
          </a:p>
          <a:p>
            <a:pPr>
              <a:spcAft>
                <a:spcPts val="700"/>
              </a:spcAft>
              <a:defRPr sz="1700"/>
            </a:pPr>
            <a:r>
              <a:t>• Challenge 3 — Scaling everything together: impossible to handle traffic spikes on specific features efficiently</a:t>
            </a:r>
          </a:p>
          <a:p>
            <a:pPr>
              <a:spcAft>
                <a:spcPts val="700"/>
              </a:spcAft>
              <a:defRPr sz="1700"/>
            </a:pPr>
            <a:r>
              <a:t>• Challenge 4 — Cascading failures: a single bug in one module could break unrelated functions across the platform</a:t>
            </a:r>
          </a:p>
          <a:p>
            <a:pPr>
              <a:spcAft>
                <a:spcPts val="700"/>
              </a:spcAft>
              <a:defRPr sz="1700"/>
            </a:pPr>
            <a:r>
              <a:t>• Impact: the monolith became a severe bottleneck — a fundamental architectural and cultural shift was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Amazon (Q2): DevOps solutions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• Solution 1 — Two-pizza teams (cultural shift): small autonomous teams own their services end-to-end → ownership, accountability, faster decisions</a:t>
            </a:r>
          </a:p>
          <a:p>
            <a:pPr>
              <a:spcAft>
                <a:spcPts val="700"/>
              </a:spcAft>
              <a:defRPr sz="1700"/>
            </a:pPr>
            <a:r>
              <a:t>• Solution 2 — Microservices (architectural shift): independent, loosely coupled services → independent scaling and deployment, smaller blast radius</a:t>
            </a:r>
          </a:p>
          <a:p>
            <a:pPr>
              <a:spcAft>
                <a:spcPts val="700"/>
              </a:spcAft>
              <a:defRPr sz="1700"/>
            </a:pPr>
            <a:r>
              <a:t>• Solution 3 — Continuous deployment &amp; automation (CI/CD): automated build, test and deployment pipelines → rapid, safe releases</a:t>
            </a:r>
          </a:p>
          <a:p>
            <a:pPr>
              <a:spcAft>
                <a:spcPts val="700"/>
              </a:spcAft>
              <a:defRPr sz="1700"/>
            </a:pPr>
            <a:r>
              <a:t>• Overall result: a culture of continuous innovation — code deployed on average every 11.7 seconds</a:t>
            </a:r>
          </a:p>
          <a:p>
            <a:pPr>
              <a:spcAft>
                <a:spcPts val="700"/>
              </a:spcAft>
              <a:defRPr sz="1700"/>
            </a:pPr>
            <a:r>
              <a:t>• Massive scalability and resilience, directly boosting customer satisfaction and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Case Study 2 – Netflix (Q1):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• 2008: a major database corruption halted DVD shipments for 3 days</a:t>
            </a:r>
          </a:p>
          <a:p>
            <a:pPr>
              <a:spcAft>
                <a:spcPts val="700"/>
              </a:spcAft>
              <a:defRPr sz="1700"/>
            </a:pPr>
            <a:r>
              <a:t>• Monolithic architecture = a single point of failure — one corrupted database took everything down</a:t>
            </a:r>
          </a:p>
          <a:p>
            <a:pPr>
              <a:spcAft>
                <a:spcPts val="700"/>
              </a:spcAft>
              <a:defRPr sz="1700"/>
            </a:pPr>
            <a:r>
              <a:t>• Scaling and deploying changes was difficult</a:t>
            </a:r>
          </a:p>
          <a:p>
            <a:pPr>
              <a:spcAft>
                <a:spcPts val="700"/>
              </a:spcAft>
              <a:defRPr sz="1700"/>
            </a:pPr>
            <a:r>
              <a:t>• The Goal: build a resilient, scalable and fault-tolerant system using DevOps practices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Netflix (Q1): Challenges of the monolith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• Challenge 1 — Single point of failure: one corrupted database brought down the entire system, not just one feature</a:t>
            </a:r>
          </a:p>
          <a:p>
            <a:pPr>
              <a:spcAft>
                <a:spcPts val="700"/>
              </a:spcAft>
              <a:defRPr sz="1700"/>
            </a:pPr>
            <a:r>
              <a:t>• Challenge 2 — Cascading failures: a bug in one module (e.g., shipping) crashed the whole application</a:t>
            </a:r>
          </a:p>
          <a:p>
            <a:pPr>
              <a:spcAft>
                <a:spcPts val="700"/>
              </a:spcAft>
              <a:defRPr sz="1700"/>
            </a:pPr>
            <a:r>
              <a:t>• Challenge 3 — Slow recovery: fixing anything required rebuilding and redeploying the entire massive codebase</a:t>
            </a:r>
          </a:p>
          <a:p>
            <a:pPr>
              <a:spcAft>
                <a:spcPts val="700"/>
              </a:spcAft>
              <a:defRPr sz="1700"/>
            </a:pPr>
            <a:r>
              <a:t>• Challenge 4 — Scaling bottlenecks: the entire app had to scale to serve demand on a single feature</a:t>
            </a:r>
          </a:p>
          <a:p>
            <a:pPr>
              <a:spcAft>
                <a:spcPts val="700"/>
              </a:spcAft>
              <a:defRPr sz="1700"/>
            </a:pPr>
            <a:r>
              <a:t>• Impact: 3 days of lost revenue and damaged trust — the wake-up call that forced the migration to cloud and microservices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Netflix (Q1): DevOps solutions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• Solution 1 — Microservices: hundreds of independent, loosely coupled services → a failure in one does not crash the others</a:t>
            </a:r>
          </a:p>
          <a:p>
            <a:pPr>
              <a:spcAft>
                <a:spcPts val="700"/>
              </a:spcAft>
              <a:defRPr sz="1700"/>
            </a:pPr>
            <a:r>
              <a:t>• Solution 2 — Chaos Engineering (Chaos Monkey): proactively injects failures in production → systems must recover automatically</a:t>
            </a:r>
          </a:p>
          <a:p>
            <a:pPr>
              <a:spcAft>
                <a:spcPts val="700"/>
              </a:spcAft>
              <a:defRPr sz="1700"/>
            </a:pPr>
            <a:r>
              <a:t>• Solution 3 — CI/CD &amp; small autonomous teams: small rapid deployments reduce risk; teams own their service end-to-end</a:t>
            </a:r>
          </a:p>
          <a:p>
            <a:pPr>
              <a:spcAft>
                <a:spcPts val="700"/>
              </a:spcAft>
              <a:defRPr sz="1700"/>
            </a:pPr>
            <a:r>
              <a:t>• Overall result: massive resilience (survives AWS outages) and near-infinite scalability (enabled global streaming)</a:t>
            </a:r>
          </a:p>
          <a:p>
            <a:pPr>
              <a:spcAft>
                <a:spcPts val="700"/>
              </a:spcAft>
              <a:defRPr sz="1700"/>
            </a:pPr>
            <a:r>
              <a:t>• Continuous innovation without compromising uptime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Netflix (Q1): architecture shift</a:t>
            </a:r>
          </a:p>
        </p:txBody>
      </p:sp>
      <p:pic>
        <p:nvPicPr>
          <p:cNvPr id="3" name="Picture 2" descr="ca2_q1_netfl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51560"/>
            <a:ext cx="960120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4023359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/>
              <a:t>Monolith + single database vs. microservices on AWS with Chaos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Our implementation — technology stack &amp;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• Application: Java 21 — zero-dependency HTTP service (/, /health, /metrics)</a:t>
            </a:r>
          </a:p>
          <a:p>
            <a:pPr>
              <a:spcAft>
                <a:spcPts val="700"/>
              </a:spcAft>
              <a:defRPr sz="1700"/>
            </a:pPr>
            <a:r>
              <a:t>• Containerization: Docker — multi-stage build (JDK compiles, JRE-only runtime, non-root)</a:t>
            </a:r>
          </a:p>
          <a:p>
            <a:pPr>
              <a:spcAft>
                <a:spcPts val="700"/>
              </a:spcAft>
              <a:defRPr sz="1700"/>
            </a:pPr>
            <a:r>
              <a:t>• Orchestration: Kubernetes v1.36 (k3s, single node) on a Debian VM — 192.168.1.109</a:t>
            </a:r>
          </a:p>
          <a:p>
            <a:pPr>
              <a:spcAft>
                <a:spcPts val="700"/>
              </a:spcAft>
              <a:defRPr sz="1700"/>
            </a:pPr>
            <a:r>
              <a:t>• CI/CD: GitHub Actions → GHCR → SSH deploy with verified rolling update</a:t>
            </a:r>
          </a:p>
          <a:p>
            <a:pPr>
              <a:spcAft>
                <a:spcPts val="700"/>
              </a:spcAft>
              <a:defRPr sz="1700"/>
            </a:pPr>
            <a:r>
              <a:t>• Configuration Management: Ansible (ansible-core 2.19, agentless over SSH)</a:t>
            </a:r>
          </a:p>
          <a:p>
            <a:pPr>
              <a:spcAft>
                <a:spcPts val="700"/>
              </a:spcAft>
              <a:defRPr sz="1700"/>
            </a:pPr>
            <a:r>
              <a:t>• Monitoring: Prometheus + Grafana (kube-prometheus-stack via Helm) + ServiceMonitor</a:t>
            </a:r>
          </a:p>
          <a:p>
            <a:pPr>
              <a:spcAft>
                <a:spcPts val="700"/>
              </a:spcAft>
              <a:defRPr sz="1700"/>
            </a:pPr>
            <a:r>
              <a:t>• Repository: github.com/xzeyo/devops-ca2</a:t>
            </a:r>
          </a:p>
          <a:p>
            <a:pPr>
              <a:spcAft>
                <a:spcPts val="700"/>
              </a:spcAft>
              <a:defRPr sz="1700"/>
            </a:pPr>
            <a:r>
              <a:t>• Everything below ran LIVE on the cluster — evidence captured from the real session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Our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10789920" cy="54668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Task 1 — Deployment Strategy: GitHub Actions</a:t>
            </a:r>
          </a:p>
        </p:txBody>
      </p:sp>
      <p:pic>
        <p:nvPicPr>
          <p:cNvPr id="3" name="Picture 2" descr="pipelin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05840"/>
            <a:ext cx="10607040" cy="45256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20624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/>
            </a:pPr>
            <a:r>
              <a:t>• Workflow: compile → docker build (multi-stage) → container smoke test (/health) → push GHCR → SSH deploy → kubectl rollout status → post-deploy health check</a:t>
            </a:r>
          </a:p>
          <a:p>
            <a:pPr>
              <a:spcAft>
                <a:spcPts val="700"/>
              </a:spcAft>
              <a:defRPr sz="1500"/>
            </a:pPr>
            <a:r>
              <a:t>• Submitted: deploy.yml + pipeline diagram. Deploy job runs on a self-hosted runner on the VM; verified end-to-end: push to build, GHCR, rolling update, health check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Task 2 — Configuration Management &amp; IaC: Ansible</a:t>
            </a:r>
          </a:p>
        </p:txBody>
      </p:sp>
      <p:pic>
        <p:nvPicPr>
          <p:cNvPr id="3" name="Picture 2" descr="t2-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675120" cy="1142409"/>
          </a:xfrm>
          <a:prstGeom prst="rect">
            <a:avLst/>
          </a:prstGeom>
        </p:spPr>
      </p:pic>
      <p:pic>
        <p:nvPicPr>
          <p:cNvPr id="4" name="Picture 3" descr="t2-ste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6675120" cy="13948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t>• Playbook installs packages (htop, tree, jq), creates a managed user (devops-lab), manages /etc/motd + home README</a:t>
            </a:r>
          </a:p>
          <a:p>
            <a:pPr>
              <a:spcAft>
                <a:spcPts val="700"/>
              </a:spcAft>
              <a:defRPr sz="1400"/>
            </a:pPr>
            <a:r>
              <a:t>• 1st run: ok=6, changed=4, failed=0 — desired state applied</a:t>
            </a:r>
          </a:p>
          <a:p>
            <a:pPr>
              <a:spcAft>
                <a:spcPts val="700"/>
              </a:spcAft>
              <a:defRPr sz="1400"/>
            </a:pPr>
            <a:r>
              <a:t>• 2nd run: changed=0 — idempotent (core IaC property)</a:t>
            </a:r>
          </a:p>
          <a:p>
            <a:pPr>
              <a:spcAft>
                <a:spcPts val="700"/>
              </a:spcAft>
              <a:defRPr sz="1400"/>
            </a:pPr>
            <a:r>
              <a:t>• Agentless over SSH; submitted: playbook.yml + inventory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Task 3 — Containerization &amp; Orchestration (live)</a:t>
            </a:r>
          </a:p>
        </p:txBody>
      </p:sp>
      <p:pic>
        <p:nvPicPr>
          <p:cNvPr id="3" name="Picture 2" descr="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7315200" cy="3012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37160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t>• Deployment: 3 replicas, RollingUpdate maxSurge=1 / maxUnavailable=0, readiness+liveness probes</a:t>
            </a:r>
          </a:p>
          <a:p>
            <a:pPr>
              <a:spcAft>
                <a:spcPts val="700"/>
              </a:spcAft>
              <a:defRPr sz="1400"/>
            </a:pPr>
            <a:r>
              <a:t>• NodePort Service :30080 load-balances across pods</a:t>
            </a:r>
          </a:p>
        </p:txBody>
      </p:sp>
      <p:pic>
        <p:nvPicPr>
          <p:cNvPr id="5" name="Picture 4" descr="step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0"/>
            <a:ext cx="7315200" cy="11376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484632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t>• Rolling update v1→v2 with zero downtime, then rollback — all performed live; YAMLs + 8 screenshots submitted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Task 4 — Monitoring &amp; Logging: Prometheus + Grafana</a:t>
            </a:r>
          </a:p>
        </p:txBody>
      </p:sp>
      <p:pic>
        <p:nvPicPr>
          <p:cNvPr id="3" name="Picture 2" descr="t4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6949440" cy="4922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280160"/>
            <a:ext cx="4023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t>• kube-prometheus-stack via Helm; service upgraded to expose a latency histogram + per-status-code counters</a:t>
            </a:r>
          </a:p>
          <a:p>
            <a:pPr>
              <a:spcAft>
                <a:spcPts val="700"/>
              </a:spcAft>
              <a:defRPr sz="1400"/>
            </a:pPr>
            <a:r>
              <a:t>• ServiceMonitor scrapes all 3 pods every 5s; native node exporter scraped as static host target</a:t>
            </a:r>
          </a:p>
          <a:p>
            <a:pPr>
              <a:spcAft>
                <a:spcPts val="700"/>
              </a:spcAft>
              <a:defRPr sz="1400"/>
            </a:pPr>
            <a:r>
              <a:t>• Panels: uptime (3/3 UP), request rate, p95 latency (~4.8 ms), error rate (~7% from deliberate 404 load test)</a:t>
            </a:r>
          </a:p>
          <a:p>
            <a:pPr>
              <a:spcAft>
                <a:spcPts val="700"/>
              </a:spcAft>
              <a:defRPr sz="1400"/>
            </a:pPr>
            <a:r>
              <a:t>• Grafana NodePort :30300 — dashboard imported via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Challenges faced during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/>
            </a:pPr>
            <a:r>
              <a:t>• No Docker/Kubernetes in the build sandbox (no root, user namespaces blocked)</a:t>
            </a:r>
          </a:p>
          <a:p>
            <a:pPr lvl="1">
              <a:spcAft>
                <a:spcPts val="700"/>
              </a:spcAft>
              <a:defRPr sz="1200"/>
            </a:pPr>
            <a:r>
              <a:t>– → ran the whole stack live on the Debian VM: k3s with isolated containerd, data on /srv</a:t>
            </a:r>
          </a:p>
          <a:p>
            <a:pPr>
              <a:spcAft>
                <a:spcPts val="700"/>
              </a:spcAft>
              <a:defRPr sz="1500"/>
            </a:pPr>
            <a:r>
              <a:t>• VM disk too small for the multi-stage JDK image pull</a:t>
            </a:r>
          </a:p>
          <a:p>
            <a:pPr lvl="1">
              <a:spcAft>
                <a:spcPts val="700"/>
              </a:spcAft>
              <a:defRPr sz="1200"/>
            </a:pPr>
            <a:r>
              <a:t>– → compiled with JDK 21 on the host + runtime-only image (Dockerfile.local); canonical multi-stage Dockerfile kept in the repo</a:t>
            </a:r>
          </a:p>
          <a:p>
            <a:pPr>
              <a:spcAft>
                <a:spcPts val="700"/>
              </a:spcAft>
              <a:defRPr sz="1500"/>
            </a:pPr>
            <a:r>
              <a:t>• Port 9100 conflict: cluster node-exporter crashed against the VM's native exporter</a:t>
            </a:r>
          </a:p>
          <a:p>
            <a:pPr lvl="1">
              <a:spcAft>
                <a:spcPts val="700"/>
              </a:spcAft>
              <a:defRPr sz="1200"/>
            </a:pPr>
            <a:r>
              <a:t>– → disabled the cluster copy and scraped the native exporter as a static host target</a:t>
            </a:r>
          </a:p>
          <a:p>
            <a:pPr>
              <a:spcAft>
                <a:spcPts val="700"/>
              </a:spcAft>
              <a:defRPr sz="1500"/>
            </a:pPr>
            <a:r>
              <a:t>• Helm download truncated twice from the VM</a:t>
            </a:r>
          </a:p>
          <a:p>
            <a:pPr lvl="1">
              <a:spcAft>
                <a:spcPts val="700"/>
              </a:spcAft>
              <a:defRPr sz="1200"/>
            </a:pPr>
            <a:r>
              <a:t>– → downloaded in the build environment, pushed the binary over SFTP</a:t>
            </a:r>
          </a:p>
          <a:p>
            <a:pPr>
              <a:spcAft>
                <a:spcPts val="700"/>
              </a:spcAft>
              <a:defRPr sz="1500"/>
            </a:pPr>
            <a:r>
              <a:t>• Ansible could not SSH from the restricted environment</a:t>
            </a:r>
          </a:p>
          <a:p>
            <a:pPr lvl="1">
              <a:spcAft>
                <a:spcPts val="700"/>
              </a:spcAft>
              <a:defRPr sz="1200"/>
            </a:pPr>
            <a:r>
              <a:t>– → ran ansible-core on the VM with a dedicated SSH key; idempotency proven live (changed=4 → changed=0)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Lessons learned &amp; connection to the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• Zero-downtime rolling updates are real — proven live twice, exactly the capability Amazon and Netflix built their businesses on</a:t>
            </a:r>
          </a:p>
          <a:p>
            <a:pPr>
              <a:spcAft>
                <a:spcPts val="700"/>
              </a:spcAft>
              <a:defRPr sz="1600"/>
            </a:pPr>
            <a:r>
              <a:t>• IaC is only useful if idempotent — declarative playbooks (changed=4 → changed=0) eliminate configuration drift</a:t>
            </a:r>
          </a:p>
          <a:p>
            <a:pPr>
              <a:spcAft>
                <a:spcPts val="700"/>
              </a:spcAft>
              <a:defRPr sz="1600"/>
            </a:pPr>
            <a:r>
              <a:t>• Observability is non-negotiable: a 5-line /metrics endpoint (histogram + counters) powered the entire uptime/latency/error dashboard</a:t>
            </a:r>
          </a:p>
          <a:p>
            <a:pPr>
              <a:spcAft>
                <a:spcPts val="700"/>
              </a:spcAft>
              <a:defRPr sz="1600"/>
            </a:pPr>
            <a:r>
              <a:t>• Resilience through automation: probes + rolling updates + instant rollback mean failure is handled, not feared</a:t>
            </a:r>
          </a:p>
          <a:p>
            <a:pPr>
              <a:spcAft>
                <a:spcPts val="700"/>
              </a:spcAft>
              <a:defRPr sz="1600"/>
            </a:pPr>
            <a:r>
              <a:t>• Small hygiene pays: non-root containers, resource limits, pinned base images</a:t>
            </a:r>
          </a:p>
          <a:p>
            <a:pPr>
              <a:spcAft>
                <a:spcPts val="700"/>
              </a:spcAft>
              <a:defRPr sz="1600"/>
            </a:pPr>
            <a:r>
              <a:t>• Isolation matters: k3s with its own containerd co-existed with production services (mail stack healthy throughout)</a:t>
            </a:r>
          </a:p>
          <a:p>
            <a:pPr>
              <a:spcAft>
                <a:spcPts val="700"/>
              </a:spcAft>
              <a:defRPr sz="1600"/>
            </a:pPr>
            <a:r>
              <a:t>• Microservices/DevOps shift = culture + architecture together, exactly as in the case studies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/>
              <a:t>Thank You</a:t>
            </a:r>
          </a:p>
          <a:p>
            <a:pPr>
              <a:defRPr sz="1800" i="1"/>
            </a:pPr>
            <a:r>
              <a:t>Built and run live: hello-service on k3s — monitored with Prometheus + Grafana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